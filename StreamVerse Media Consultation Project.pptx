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87" r:id="rId5"/>
    <p:sldId id="260" r:id="rId6"/>
    <p:sldId id="261" r:id="rId7"/>
    <p:sldId id="262" r:id="rId8"/>
    <p:sldId id="263" r:id="rId9"/>
    <p:sldId id="265" r:id="rId10"/>
    <p:sldId id="288" r:id="rId11"/>
    <p:sldId id="267" r:id="rId12"/>
    <p:sldId id="269" r:id="rId13"/>
    <p:sldId id="270" r:id="rId14"/>
    <p:sldId id="289" r:id="rId15"/>
    <p:sldId id="272" r:id="rId16"/>
    <p:sldId id="273" r:id="rId17"/>
    <p:sldId id="274" r:id="rId18"/>
    <p:sldId id="290" r:id="rId19"/>
    <p:sldId id="276" r:id="rId20"/>
    <p:sldId id="286" r:id="rId21"/>
  </p:sldIdLst>
  <p:sldSz cx="18288000" cy="10287000"/>
  <p:notesSz cx="6858000" cy="9144000"/>
  <p:embeddedFontLst>
    <p:embeddedFont>
      <p:font typeface="DM Sans" pitchFamily="2" charset="0"/>
      <p:regular r:id="rId23"/>
      <p:bold r:id="rId24"/>
      <p:italic r:id="rId25"/>
      <p:boldItalic r:id="rId26"/>
    </p:embeddedFont>
    <p:embeddedFont>
      <p:font typeface="DM Sans Bold" charset="0"/>
      <p:regular r:id="rId27"/>
    </p:embeddedFont>
    <p:embeddedFont>
      <p:font typeface="Heebo" pitchFamily="2" charset="-79"/>
      <p:regular r:id="rId28"/>
      <p:bold r:id="rId29"/>
    </p:embeddedFont>
    <p:embeddedFont>
      <p:font typeface="Heebo Bold" charset="-79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0000"/>
    <a:srgbClr val="842523"/>
    <a:srgbClr val="BDB69D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40EF88-4301-4A91-8A6E-7A51CF14C2F8}" v="9" dt="2025-04-20T06:04:57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6" d="100"/>
          <a:sy n="36" d="100"/>
        </p:scale>
        <p:origin x="1140" y="4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ddiqa Shubbar" userId="3ac30363454e4f3d" providerId="LiveId" clId="{1A40EF88-4301-4A91-8A6E-7A51CF14C2F8}"/>
    <pc:docChg chg="undo redo custSel addSld delSld modSld">
      <pc:chgData name="Seddiqa Shubbar" userId="3ac30363454e4f3d" providerId="LiveId" clId="{1A40EF88-4301-4A91-8A6E-7A51CF14C2F8}" dt="2025-04-20T06:20:22.439" v="201" actId="207"/>
      <pc:docMkLst>
        <pc:docMk/>
      </pc:docMkLst>
      <pc:sldChg chg="del">
        <pc:chgData name="Seddiqa Shubbar" userId="3ac30363454e4f3d" providerId="LiveId" clId="{1A40EF88-4301-4A91-8A6E-7A51CF14C2F8}" dt="2025-04-20T05:47:57.296" v="1" actId="47"/>
        <pc:sldMkLst>
          <pc:docMk/>
          <pc:sldMk cId="0" sldId="259"/>
        </pc:sldMkLst>
      </pc:sldChg>
      <pc:sldChg chg="modSp mod">
        <pc:chgData name="Seddiqa Shubbar" userId="3ac30363454e4f3d" providerId="LiveId" clId="{1A40EF88-4301-4A91-8A6E-7A51CF14C2F8}" dt="2025-04-20T06:11:10.812" v="147" actId="20577"/>
        <pc:sldMkLst>
          <pc:docMk/>
          <pc:sldMk cId="0" sldId="260"/>
        </pc:sldMkLst>
        <pc:spChg chg="mod">
          <ac:chgData name="Seddiqa Shubbar" userId="3ac30363454e4f3d" providerId="LiveId" clId="{1A40EF88-4301-4A91-8A6E-7A51CF14C2F8}" dt="2025-04-20T05:48:14.620" v="3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Seddiqa Shubbar" userId="3ac30363454e4f3d" providerId="LiveId" clId="{1A40EF88-4301-4A91-8A6E-7A51CF14C2F8}" dt="2025-04-20T06:11:10.812" v="147" actId="20577"/>
          <ac:spMkLst>
            <pc:docMk/>
            <pc:sldMk cId="0" sldId="260"/>
            <ac:spMk id="7" creationId="{00000000-0000-0000-0000-000000000000}"/>
          </ac:spMkLst>
        </pc:spChg>
      </pc:sldChg>
      <pc:sldChg chg="modSp mod">
        <pc:chgData name="Seddiqa Shubbar" userId="3ac30363454e4f3d" providerId="LiveId" clId="{1A40EF88-4301-4A91-8A6E-7A51CF14C2F8}" dt="2025-04-20T05:49:01.912" v="15" actId="123"/>
        <pc:sldMkLst>
          <pc:docMk/>
          <pc:sldMk cId="0" sldId="261"/>
        </pc:sldMkLst>
        <pc:spChg chg="mod">
          <ac:chgData name="Seddiqa Shubbar" userId="3ac30363454e4f3d" providerId="LiveId" clId="{1A40EF88-4301-4A91-8A6E-7A51CF14C2F8}" dt="2025-04-20T05:49:01.912" v="15" actId="123"/>
          <ac:spMkLst>
            <pc:docMk/>
            <pc:sldMk cId="0" sldId="261"/>
            <ac:spMk id="9" creationId="{00000000-0000-0000-0000-000000000000}"/>
          </ac:spMkLst>
        </pc:spChg>
      </pc:sldChg>
      <pc:sldChg chg="modSp mod">
        <pc:chgData name="Seddiqa Shubbar" userId="3ac30363454e4f3d" providerId="LiveId" clId="{1A40EF88-4301-4A91-8A6E-7A51CF14C2F8}" dt="2025-04-20T06:01:01.102" v="58" actId="14100"/>
        <pc:sldMkLst>
          <pc:docMk/>
          <pc:sldMk cId="0" sldId="265"/>
        </pc:sldMkLst>
        <pc:spChg chg="mod modCrop">
          <ac:chgData name="Seddiqa Shubbar" userId="3ac30363454e4f3d" providerId="LiveId" clId="{1A40EF88-4301-4A91-8A6E-7A51CF14C2F8}" dt="2025-04-20T06:01:01.102" v="58" actId="14100"/>
          <ac:spMkLst>
            <pc:docMk/>
            <pc:sldMk cId="0" sldId="265"/>
            <ac:spMk id="4" creationId="{00000000-0000-0000-0000-000000000000}"/>
          </ac:spMkLst>
        </pc:spChg>
        <pc:spChg chg="mod">
          <ac:chgData name="Seddiqa Shubbar" userId="3ac30363454e4f3d" providerId="LiveId" clId="{1A40EF88-4301-4A91-8A6E-7A51CF14C2F8}" dt="2025-04-20T06:00:07.875" v="54" actId="1076"/>
          <ac:spMkLst>
            <pc:docMk/>
            <pc:sldMk cId="0" sldId="265"/>
            <ac:spMk id="6" creationId="{00000000-0000-0000-0000-000000000000}"/>
          </ac:spMkLst>
        </pc:spChg>
      </pc:sldChg>
      <pc:sldChg chg="del">
        <pc:chgData name="Seddiqa Shubbar" userId="3ac30363454e4f3d" providerId="LiveId" clId="{1A40EF88-4301-4A91-8A6E-7A51CF14C2F8}" dt="2025-04-20T05:50:15.577" v="17" actId="47"/>
        <pc:sldMkLst>
          <pc:docMk/>
          <pc:sldMk cId="0" sldId="266"/>
        </pc:sldMkLst>
      </pc:sldChg>
      <pc:sldChg chg="addSp delSp modSp mod">
        <pc:chgData name="Seddiqa Shubbar" userId="3ac30363454e4f3d" providerId="LiveId" clId="{1A40EF88-4301-4A91-8A6E-7A51CF14C2F8}" dt="2025-04-20T06:20:22.439" v="201" actId="207"/>
        <pc:sldMkLst>
          <pc:docMk/>
          <pc:sldMk cId="0" sldId="267"/>
        </pc:sldMkLst>
        <pc:spChg chg="mod">
          <ac:chgData name="Seddiqa Shubbar" userId="3ac30363454e4f3d" providerId="LiveId" clId="{1A40EF88-4301-4A91-8A6E-7A51CF14C2F8}" dt="2025-04-20T05:50:44.862" v="22" actId="1076"/>
          <ac:spMkLst>
            <pc:docMk/>
            <pc:sldMk cId="0" sldId="267"/>
            <ac:spMk id="4" creationId="{00000000-0000-0000-0000-000000000000}"/>
          </ac:spMkLst>
        </pc:spChg>
        <pc:spChg chg="add mod">
          <ac:chgData name="Seddiqa Shubbar" userId="3ac30363454e4f3d" providerId="LiveId" clId="{1A40EF88-4301-4A91-8A6E-7A51CF14C2F8}" dt="2025-04-20T05:50:39.333" v="19" actId="1076"/>
          <ac:spMkLst>
            <pc:docMk/>
            <pc:sldMk cId="0" sldId="267"/>
            <ac:spMk id="11" creationId="{910D8BEE-24C3-5559-8E39-1551FA459357}"/>
          </ac:spMkLst>
        </pc:spChg>
        <pc:spChg chg="add del mod">
          <ac:chgData name="Seddiqa Shubbar" userId="3ac30363454e4f3d" providerId="LiveId" clId="{1A40EF88-4301-4A91-8A6E-7A51CF14C2F8}" dt="2025-04-20T06:19:09.890" v="193" actId="20577"/>
          <ac:spMkLst>
            <pc:docMk/>
            <pc:sldMk cId="0" sldId="267"/>
            <ac:spMk id="15" creationId="{BBB3C419-51F4-64B2-5A44-A59C79F84092}"/>
          </ac:spMkLst>
        </pc:spChg>
        <pc:spChg chg="add mod">
          <ac:chgData name="Seddiqa Shubbar" userId="3ac30363454e4f3d" providerId="LiveId" clId="{1A40EF88-4301-4A91-8A6E-7A51CF14C2F8}" dt="2025-04-20T05:50:50.511" v="23" actId="1076"/>
          <ac:spMkLst>
            <pc:docMk/>
            <pc:sldMk cId="0" sldId="267"/>
            <ac:spMk id="16" creationId="{62D5DCB7-A183-4C5E-0FF6-E8579749AD17}"/>
          </ac:spMkLst>
        </pc:spChg>
        <pc:spChg chg="add mod">
          <ac:chgData name="Seddiqa Shubbar" userId="3ac30363454e4f3d" providerId="LiveId" clId="{1A40EF88-4301-4A91-8A6E-7A51CF14C2F8}" dt="2025-04-20T05:50:58.904" v="25" actId="1076"/>
          <ac:spMkLst>
            <pc:docMk/>
            <pc:sldMk cId="0" sldId="267"/>
            <ac:spMk id="20" creationId="{0B706597-D4A5-DAE5-FD2A-C1424AA94744}"/>
          </ac:spMkLst>
        </pc:spChg>
        <pc:spChg chg="mod">
          <ac:chgData name="Seddiqa Shubbar" userId="3ac30363454e4f3d" providerId="LiveId" clId="{1A40EF88-4301-4A91-8A6E-7A51CF14C2F8}" dt="2025-04-20T06:20:22.439" v="201" actId="207"/>
          <ac:spMkLst>
            <pc:docMk/>
            <pc:sldMk cId="0" sldId="267"/>
            <ac:spMk id="24" creationId="{4705C031-9DB4-8F88-1F4A-4135F7463681}"/>
          </ac:spMkLst>
        </pc:spChg>
      </pc:sldChg>
      <pc:sldChg chg="addSp delSp modSp mod">
        <pc:chgData name="Seddiqa Shubbar" userId="3ac30363454e4f3d" providerId="LiveId" clId="{1A40EF88-4301-4A91-8A6E-7A51CF14C2F8}" dt="2025-04-20T06:05:37.634" v="122" actId="1076"/>
        <pc:sldMkLst>
          <pc:docMk/>
          <pc:sldMk cId="0" sldId="269"/>
        </pc:sldMkLst>
        <pc:spChg chg="mod">
          <ac:chgData name="Seddiqa Shubbar" userId="3ac30363454e4f3d" providerId="LiveId" clId="{1A40EF88-4301-4A91-8A6E-7A51CF14C2F8}" dt="2025-04-20T06:03:23.529" v="59" actId="1076"/>
          <ac:spMkLst>
            <pc:docMk/>
            <pc:sldMk cId="0" sldId="269"/>
            <ac:spMk id="2" creationId="{00000000-0000-0000-0000-000000000000}"/>
          </ac:spMkLst>
        </pc:spChg>
        <pc:spChg chg="add del mod">
          <ac:chgData name="Seddiqa Shubbar" userId="3ac30363454e4f3d" providerId="LiveId" clId="{1A40EF88-4301-4A91-8A6E-7A51CF14C2F8}" dt="2025-04-20T06:04:57.362" v="85" actId="478"/>
          <ac:spMkLst>
            <pc:docMk/>
            <pc:sldMk cId="0" sldId="269"/>
            <ac:spMk id="6" creationId="{2E45ED43-8CFC-72BE-BA65-3BABC946993A}"/>
          </ac:spMkLst>
        </pc:spChg>
        <pc:spChg chg="mod">
          <ac:chgData name="Seddiqa Shubbar" userId="3ac30363454e4f3d" providerId="LiveId" clId="{1A40EF88-4301-4A91-8A6E-7A51CF14C2F8}" dt="2025-04-20T06:04:06.231" v="62" actId="1076"/>
          <ac:spMkLst>
            <pc:docMk/>
            <pc:sldMk cId="0" sldId="269"/>
            <ac:spMk id="7" creationId="{A30D3EAC-361B-F3D4-5B54-DECE519939FF}"/>
          </ac:spMkLst>
        </pc:spChg>
        <pc:spChg chg="add mod">
          <ac:chgData name="Seddiqa Shubbar" userId="3ac30363454e4f3d" providerId="LiveId" clId="{1A40EF88-4301-4A91-8A6E-7A51CF14C2F8}" dt="2025-04-20T06:05:37.634" v="122" actId="1076"/>
          <ac:spMkLst>
            <pc:docMk/>
            <pc:sldMk cId="0" sldId="269"/>
            <ac:spMk id="8" creationId="{A3D20059-CC39-D0BA-F4E8-9034AF0AC30C}"/>
          </ac:spMkLst>
        </pc:spChg>
      </pc:sldChg>
      <pc:sldChg chg="modSp mod">
        <pc:chgData name="Seddiqa Shubbar" userId="3ac30363454e4f3d" providerId="LiveId" clId="{1A40EF88-4301-4A91-8A6E-7A51CF14C2F8}" dt="2025-04-20T06:07:29.708" v="141" actId="1076"/>
        <pc:sldMkLst>
          <pc:docMk/>
          <pc:sldMk cId="0" sldId="270"/>
        </pc:sldMkLst>
        <pc:spChg chg="mod">
          <ac:chgData name="Seddiqa Shubbar" userId="3ac30363454e4f3d" providerId="LiveId" clId="{1A40EF88-4301-4A91-8A6E-7A51CF14C2F8}" dt="2025-04-20T06:06:25.776" v="129" actId="1076"/>
          <ac:spMkLst>
            <pc:docMk/>
            <pc:sldMk cId="0" sldId="270"/>
            <ac:spMk id="3" creationId="{00000000-0000-0000-0000-000000000000}"/>
          </ac:spMkLst>
        </pc:spChg>
        <pc:spChg chg="mod modCrop">
          <ac:chgData name="Seddiqa Shubbar" userId="3ac30363454e4f3d" providerId="LiveId" clId="{1A40EF88-4301-4A91-8A6E-7A51CF14C2F8}" dt="2025-04-20T06:07:22.627" v="139" actId="14100"/>
          <ac:spMkLst>
            <pc:docMk/>
            <pc:sldMk cId="0" sldId="270"/>
            <ac:spMk id="4" creationId="{00000000-0000-0000-0000-000000000000}"/>
          </ac:spMkLst>
        </pc:spChg>
        <pc:spChg chg="mod">
          <ac:chgData name="Seddiqa Shubbar" userId="3ac30363454e4f3d" providerId="LiveId" clId="{1A40EF88-4301-4A91-8A6E-7A51CF14C2F8}" dt="2025-04-20T06:05:55.032" v="124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Seddiqa Shubbar" userId="3ac30363454e4f3d" providerId="LiveId" clId="{1A40EF88-4301-4A91-8A6E-7A51CF14C2F8}" dt="2025-04-20T06:07:16.910" v="138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Seddiqa Shubbar" userId="3ac30363454e4f3d" providerId="LiveId" clId="{1A40EF88-4301-4A91-8A6E-7A51CF14C2F8}" dt="2025-04-20T06:07:29.708" v="141" actId="1076"/>
          <ac:spMkLst>
            <pc:docMk/>
            <pc:sldMk cId="0" sldId="270"/>
            <ac:spMk id="10" creationId="{DD754D3B-1D81-E86A-D6A8-0D614062A2E9}"/>
          </ac:spMkLst>
        </pc:spChg>
        <pc:picChg chg="mod modCrop">
          <ac:chgData name="Seddiqa Shubbar" userId="3ac30363454e4f3d" providerId="LiveId" clId="{1A40EF88-4301-4A91-8A6E-7A51CF14C2F8}" dt="2025-04-20T06:07:07.732" v="136" actId="1076"/>
          <ac:picMkLst>
            <pc:docMk/>
            <pc:sldMk cId="0" sldId="270"/>
            <ac:picMk id="9" creationId="{4BCCCCAE-9C7B-890E-A450-6E64ED8F4F6D}"/>
          </ac:picMkLst>
        </pc:picChg>
      </pc:sldChg>
      <pc:sldChg chg="del">
        <pc:chgData name="Seddiqa Shubbar" userId="3ac30363454e4f3d" providerId="LiveId" clId="{1A40EF88-4301-4A91-8A6E-7A51CF14C2F8}" dt="2025-04-20T05:52:29.223" v="27" actId="2696"/>
        <pc:sldMkLst>
          <pc:docMk/>
          <pc:sldMk cId="0" sldId="271"/>
        </pc:sldMkLst>
      </pc:sldChg>
      <pc:sldChg chg="del">
        <pc:chgData name="Seddiqa Shubbar" userId="3ac30363454e4f3d" providerId="LiveId" clId="{1A40EF88-4301-4A91-8A6E-7A51CF14C2F8}" dt="2025-04-20T05:53:17.186" v="29" actId="47"/>
        <pc:sldMkLst>
          <pc:docMk/>
          <pc:sldMk cId="0" sldId="275"/>
        </pc:sldMkLst>
      </pc:sldChg>
      <pc:sldChg chg="del">
        <pc:chgData name="Seddiqa Shubbar" userId="3ac30363454e4f3d" providerId="LiveId" clId="{1A40EF88-4301-4A91-8A6E-7A51CF14C2F8}" dt="2025-04-20T05:53:28.880" v="30" actId="47"/>
        <pc:sldMkLst>
          <pc:docMk/>
          <pc:sldMk cId="0" sldId="278"/>
        </pc:sldMkLst>
      </pc:sldChg>
      <pc:sldChg chg="delSp modSp add mod setBg modNotes">
        <pc:chgData name="Seddiqa Shubbar" userId="3ac30363454e4f3d" providerId="LiveId" clId="{1A40EF88-4301-4A91-8A6E-7A51CF14C2F8}" dt="2025-04-20T05:59:00.235" v="42" actId="1076"/>
        <pc:sldMkLst>
          <pc:docMk/>
          <pc:sldMk cId="0" sldId="287"/>
        </pc:sldMkLst>
        <pc:spChg chg="mod">
          <ac:chgData name="Seddiqa Shubbar" userId="3ac30363454e4f3d" providerId="LiveId" clId="{1A40EF88-4301-4A91-8A6E-7A51CF14C2F8}" dt="2025-04-20T05:59:00.235" v="42" actId="1076"/>
          <ac:spMkLst>
            <pc:docMk/>
            <pc:sldMk cId="0" sldId="287"/>
            <ac:spMk id="15" creationId="{00000000-0000-0000-0000-000000000000}"/>
          </ac:spMkLst>
        </pc:spChg>
        <pc:spChg chg="mod">
          <ac:chgData name="Seddiqa Shubbar" userId="3ac30363454e4f3d" providerId="LiveId" clId="{1A40EF88-4301-4A91-8A6E-7A51CF14C2F8}" dt="2025-04-20T05:59:00.235" v="42" actId="1076"/>
          <ac:spMkLst>
            <pc:docMk/>
            <pc:sldMk cId="0" sldId="287"/>
            <ac:spMk id="16" creationId="{00000000-0000-0000-0000-000000000000}"/>
          </ac:spMkLst>
        </pc:spChg>
        <pc:spChg chg="mod">
          <ac:chgData name="Seddiqa Shubbar" userId="3ac30363454e4f3d" providerId="LiveId" clId="{1A40EF88-4301-4A91-8A6E-7A51CF14C2F8}" dt="2025-04-20T05:55:09.975" v="33" actId="207"/>
          <ac:spMkLst>
            <pc:docMk/>
            <pc:sldMk cId="0" sldId="287"/>
            <ac:spMk id="22" creationId="{00000000-0000-0000-0000-000000000000}"/>
          </ac:spMkLst>
        </pc:spChg>
        <pc:spChg chg="del mod">
          <ac:chgData name="Seddiqa Shubbar" userId="3ac30363454e4f3d" providerId="LiveId" clId="{1A40EF88-4301-4A91-8A6E-7A51CF14C2F8}" dt="2025-04-20T05:56:34.149" v="37" actId="478"/>
          <ac:spMkLst>
            <pc:docMk/>
            <pc:sldMk cId="0" sldId="287"/>
            <ac:spMk id="25" creationId="{00000000-0000-0000-0000-000000000000}"/>
          </ac:spMkLst>
        </pc:spChg>
        <pc:grpChg chg="mod">
          <ac:chgData name="Seddiqa Shubbar" userId="3ac30363454e4f3d" providerId="LiveId" clId="{1A40EF88-4301-4A91-8A6E-7A51CF14C2F8}" dt="2025-04-20T05:59:00.235" v="42" actId="1076"/>
          <ac:grpSpMkLst>
            <pc:docMk/>
            <pc:sldMk cId="0" sldId="287"/>
            <ac:grpSpMk id="10" creationId="{00000000-0000-0000-0000-000000000000}"/>
          </ac:grpSpMkLst>
        </pc:grpChg>
        <pc:grpChg chg="mod">
          <ac:chgData name="Seddiqa Shubbar" userId="3ac30363454e4f3d" providerId="LiveId" clId="{1A40EF88-4301-4A91-8A6E-7A51CF14C2F8}" dt="2025-04-20T05:59:00.235" v="42" actId="1076"/>
          <ac:grpSpMkLst>
            <pc:docMk/>
            <pc:sldMk cId="0" sldId="287"/>
            <ac:grpSpMk id="17" creationId="{00000000-0000-0000-0000-000000000000}"/>
          </ac:grpSpMkLst>
        </pc:grpChg>
        <pc:grpChg chg="mod">
          <ac:chgData name="Seddiqa Shubbar" userId="3ac30363454e4f3d" providerId="LiveId" clId="{1A40EF88-4301-4A91-8A6E-7A51CF14C2F8}" dt="2025-04-20T05:59:00.235" v="42" actId="1076"/>
          <ac:grpSpMkLst>
            <pc:docMk/>
            <pc:sldMk cId="0" sldId="287"/>
            <ac:grpSpMk id="26" creationId="{00000000-0000-0000-0000-000000000000}"/>
          </ac:grpSpMkLst>
        </pc:grpChg>
      </pc:sldChg>
      <pc:sldChg chg="add setBg modNotes">
        <pc:chgData name="Seddiqa Shubbar" userId="3ac30363454e4f3d" providerId="LiveId" clId="{1A40EF88-4301-4A91-8A6E-7A51CF14C2F8}" dt="2025-04-20T05:50:11.745" v="16"/>
        <pc:sldMkLst>
          <pc:docMk/>
          <pc:sldMk cId="0" sldId="288"/>
        </pc:sldMkLst>
      </pc:sldChg>
      <pc:sldChg chg="add setBg modNotes">
        <pc:chgData name="Seddiqa Shubbar" userId="3ac30363454e4f3d" providerId="LiveId" clId="{1A40EF88-4301-4A91-8A6E-7A51CF14C2F8}" dt="2025-04-20T05:51:39.880" v="26"/>
        <pc:sldMkLst>
          <pc:docMk/>
          <pc:sldMk cId="0" sldId="289"/>
        </pc:sldMkLst>
      </pc:sldChg>
      <pc:sldChg chg="add setBg modNotes">
        <pc:chgData name="Seddiqa Shubbar" userId="3ac30363454e4f3d" providerId="LiveId" clId="{1A40EF88-4301-4A91-8A6E-7A51CF14C2F8}" dt="2025-04-20T05:53:15.056" v="28"/>
        <pc:sldMkLst>
          <pc:docMk/>
          <pc:sldMk cId="0" sldId="2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7.png"/><Relationship Id="rId10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7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3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11.png"/><Relationship Id="rId9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sv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svg"/><Relationship Id="rId4" Type="http://schemas.openxmlformats.org/officeDocument/2006/relationships/image" Target="../media/image2.png"/><Relationship Id="rId9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svg"/><Relationship Id="rId3" Type="http://schemas.openxmlformats.org/officeDocument/2006/relationships/image" Target="../media/image1.png"/><Relationship Id="rId7" Type="http://schemas.openxmlformats.org/officeDocument/2006/relationships/image" Target="../media/image52.svg"/><Relationship Id="rId12" Type="http://schemas.openxmlformats.org/officeDocument/2006/relationships/image" Target="../media/image59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8.svg"/><Relationship Id="rId5" Type="http://schemas.openxmlformats.org/officeDocument/2006/relationships/image" Target="../media/image54.svg"/><Relationship Id="rId15" Type="http://schemas.openxmlformats.org/officeDocument/2006/relationships/image" Target="../media/image5.png"/><Relationship Id="rId10" Type="http://schemas.openxmlformats.org/officeDocument/2006/relationships/image" Target="../media/image57.png"/><Relationship Id="rId4" Type="http://schemas.openxmlformats.org/officeDocument/2006/relationships/image" Target="../media/image53.png"/><Relationship Id="rId9" Type="http://schemas.openxmlformats.org/officeDocument/2006/relationships/image" Target="../media/image56.svg"/><Relationship Id="rId1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077536" y="8363092"/>
            <a:ext cx="5007964" cy="4139868"/>
          </a:xfrm>
          <a:custGeom>
            <a:avLst/>
            <a:gdLst/>
            <a:ahLst/>
            <a:cxnLst/>
            <a:rect l="l" t="t" r="r" b="b"/>
            <a:pathLst>
              <a:path w="5007964" h="4139868">
                <a:moveTo>
                  <a:pt x="0" y="0"/>
                </a:moveTo>
                <a:lnTo>
                  <a:pt x="5007964" y="0"/>
                </a:lnTo>
                <a:lnTo>
                  <a:pt x="5007964" y="4139868"/>
                </a:lnTo>
                <a:lnTo>
                  <a:pt x="0" y="4139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-385682" y="-1472700"/>
            <a:ext cx="5827206" cy="3092852"/>
          </a:xfrm>
          <a:custGeom>
            <a:avLst/>
            <a:gdLst/>
            <a:ahLst/>
            <a:cxnLst/>
            <a:rect l="l" t="t" r="r" b="b"/>
            <a:pathLst>
              <a:path w="5827206" h="3092852">
                <a:moveTo>
                  <a:pt x="5827206" y="0"/>
                </a:moveTo>
                <a:lnTo>
                  <a:pt x="0" y="0"/>
                </a:lnTo>
                <a:lnTo>
                  <a:pt x="0" y="3092852"/>
                </a:lnTo>
                <a:lnTo>
                  <a:pt x="5827206" y="3092852"/>
                </a:lnTo>
                <a:lnTo>
                  <a:pt x="5827206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26501" y="5807054"/>
            <a:ext cx="8112748" cy="2572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1"/>
              </a:lnSpc>
            </a:pPr>
            <a:r>
              <a:rPr lang="en-US" sz="3711" b="1">
                <a:solidFill>
                  <a:srgbClr val="FEFCF6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Presented by:</a:t>
            </a:r>
          </a:p>
          <a:p>
            <a:pPr algn="l">
              <a:lnSpc>
                <a:spcPts val="5121"/>
              </a:lnSpc>
            </a:pPr>
            <a:r>
              <a:rPr lang="en-US" sz="3711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Ali Hasan </a:t>
            </a:r>
          </a:p>
          <a:p>
            <a:pPr algn="l">
              <a:lnSpc>
                <a:spcPts val="5121"/>
              </a:lnSpc>
            </a:pPr>
            <a:r>
              <a:rPr lang="en-US" sz="3711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Seddiqa Shubbar</a:t>
            </a:r>
          </a:p>
          <a:p>
            <a:pPr algn="l">
              <a:lnSpc>
                <a:spcPts val="5121"/>
              </a:lnSpc>
            </a:pPr>
            <a:r>
              <a:rPr lang="en-US" sz="3711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Zainab Alghadhban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1426501" y="5143501"/>
            <a:ext cx="13413325" cy="39499"/>
          </a:xfrm>
          <a:prstGeom prst="line">
            <a:avLst/>
          </a:prstGeom>
          <a:ln w="57150" cap="rnd">
            <a:solidFill>
              <a:srgbClr val="FEFC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505980" y="-1525848"/>
            <a:ext cx="7809832" cy="4400646"/>
          </a:xfrm>
          <a:custGeom>
            <a:avLst/>
            <a:gdLst/>
            <a:ahLst/>
            <a:cxnLst/>
            <a:rect l="l" t="t" r="r" b="b"/>
            <a:pathLst>
              <a:path w="7809832" h="4400646">
                <a:moveTo>
                  <a:pt x="0" y="0"/>
                </a:moveTo>
                <a:lnTo>
                  <a:pt x="7809832" y="0"/>
                </a:lnTo>
                <a:lnTo>
                  <a:pt x="7809832" y="4400646"/>
                </a:lnTo>
                <a:lnTo>
                  <a:pt x="0" y="44006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5092549" y="1620152"/>
            <a:ext cx="4712804" cy="5887250"/>
          </a:xfrm>
          <a:custGeom>
            <a:avLst/>
            <a:gdLst/>
            <a:ahLst/>
            <a:cxnLst/>
            <a:rect l="l" t="t" r="r" b="b"/>
            <a:pathLst>
              <a:path w="4712804" h="5887250">
                <a:moveTo>
                  <a:pt x="0" y="0"/>
                </a:moveTo>
                <a:lnTo>
                  <a:pt x="4712804" y="0"/>
                </a:lnTo>
                <a:lnTo>
                  <a:pt x="4712804" y="5887250"/>
                </a:lnTo>
                <a:lnTo>
                  <a:pt x="0" y="588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26501" y="4048125"/>
            <a:ext cx="16420251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StreamVerse Media Consultation   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011364" y="7746502"/>
            <a:ext cx="5104166" cy="4400650"/>
          </a:xfrm>
          <a:custGeom>
            <a:avLst/>
            <a:gdLst/>
            <a:ahLst/>
            <a:cxnLst/>
            <a:rect l="l" t="t" r="r" b="b"/>
            <a:pathLst>
              <a:path w="5104166" h="4400650">
                <a:moveTo>
                  <a:pt x="0" y="0"/>
                </a:moveTo>
                <a:lnTo>
                  <a:pt x="5104166" y="0"/>
                </a:lnTo>
                <a:lnTo>
                  <a:pt x="5104166" y="4400650"/>
                </a:lnTo>
                <a:lnTo>
                  <a:pt x="0" y="44006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5875700" y="5635276"/>
            <a:ext cx="3146502" cy="3092852"/>
          </a:xfrm>
          <a:custGeom>
            <a:avLst/>
            <a:gdLst/>
            <a:ahLst/>
            <a:cxnLst/>
            <a:rect l="l" t="t" r="r" b="b"/>
            <a:pathLst>
              <a:path w="3146502" h="3092852">
                <a:moveTo>
                  <a:pt x="0" y="0"/>
                </a:moveTo>
                <a:lnTo>
                  <a:pt x="3146502" y="0"/>
                </a:lnTo>
                <a:lnTo>
                  <a:pt x="3146502" y="3092852"/>
                </a:lnTo>
                <a:lnTo>
                  <a:pt x="0" y="30928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762600" y="-747224"/>
            <a:ext cx="3146502" cy="3092852"/>
          </a:xfrm>
          <a:custGeom>
            <a:avLst/>
            <a:gdLst/>
            <a:ahLst/>
            <a:cxnLst/>
            <a:rect l="l" t="t" r="r" b="b"/>
            <a:pathLst>
              <a:path w="3146502" h="3092852">
                <a:moveTo>
                  <a:pt x="0" y="0"/>
                </a:moveTo>
                <a:lnTo>
                  <a:pt x="3146502" y="0"/>
                </a:lnTo>
                <a:lnTo>
                  <a:pt x="3146502" y="3092852"/>
                </a:lnTo>
                <a:lnTo>
                  <a:pt x="0" y="30928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900003">
            <a:off x="14357288" y="965079"/>
            <a:ext cx="5007958" cy="4139876"/>
          </a:xfrm>
          <a:custGeom>
            <a:avLst/>
            <a:gdLst/>
            <a:ahLst/>
            <a:cxnLst/>
            <a:rect l="l" t="t" r="r" b="b"/>
            <a:pathLst>
              <a:path w="5007958" h="4139876">
                <a:moveTo>
                  <a:pt x="0" y="0"/>
                </a:moveTo>
                <a:lnTo>
                  <a:pt x="5007958" y="0"/>
                </a:lnTo>
                <a:lnTo>
                  <a:pt x="5007958" y="4139876"/>
                </a:lnTo>
                <a:lnTo>
                  <a:pt x="0" y="41398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14345697" y="7571019"/>
            <a:ext cx="5827206" cy="3092852"/>
          </a:xfrm>
          <a:custGeom>
            <a:avLst/>
            <a:gdLst/>
            <a:ahLst/>
            <a:cxnLst/>
            <a:rect l="l" t="t" r="r" b="b"/>
            <a:pathLst>
              <a:path w="5827206" h="3092852">
                <a:moveTo>
                  <a:pt x="5827206" y="0"/>
                </a:moveTo>
                <a:lnTo>
                  <a:pt x="0" y="0"/>
                </a:lnTo>
                <a:lnTo>
                  <a:pt x="0" y="3092852"/>
                </a:lnTo>
                <a:lnTo>
                  <a:pt x="5827206" y="3092852"/>
                </a:lnTo>
                <a:lnTo>
                  <a:pt x="5827206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759551" y="-11686"/>
            <a:ext cx="2999498" cy="2640552"/>
          </a:xfrm>
          <a:custGeom>
            <a:avLst/>
            <a:gdLst/>
            <a:ahLst/>
            <a:cxnLst/>
            <a:rect l="l" t="t" r="r" b="b"/>
            <a:pathLst>
              <a:path w="2999498" h="2640552">
                <a:moveTo>
                  <a:pt x="0" y="0"/>
                </a:moveTo>
                <a:lnTo>
                  <a:pt x="2999498" y="0"/>
                </a:lnTo>
                <a:lnTo>
                  <a:pt x="2999498" y="2640552"/>
                </a:lnTo>
                <a:lnTo>
                  <a:pt x="0" y="26405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03957" y="3628028"/>
            <a:ext cx="1447080" cy="1447080"/>
          </a:xfrm>
          <a:custGeom>
            <a:avLst/>
            <a:gdLst/>
            <a:ahLst/>
            <a:cxnLst/>
            <a:rect l="l" t="t" r="r" b="b"/>
            <a:pathLst>
              <a:path w="1447080" h="1447080">
                <a:moveTo>
                  <a:pt x="0" y="0"/>
                </a:moveTo>
                <a:lnTo>
                  <a:pt x="1447081" y="0"/>
                </a:lnTo>
                <a:lnTo>
                  <a:pt x="1447081" y="1447080"/>
                </a:lnTo>
                <a:lnTo>
                  <a:pt x="0" y="14470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03957" y="6627716"/>
            <a:ext cx="1447080" cy="1419643"/>
          </a:xfrm>
          <a:custGeom>
            <a:avLst/>
            <a:gdLst/>
            <a:ahLst/>
            <a:cxnLst/>
            <a:rect l="l" t="t" r="r" b="b"/>
            <a:pathLst>
              <a:path w="1447080" h="1419643">
                <a:moveTo>
                  <a:pt x="0" y="0"/>
                </a:moveTo>
                <a:lnTo>
                  <a:pt x="1447081" y="0"/>
                </a:lnTo>
                <a:lnTo>
                  <a:pt x="1447081" y="1419642"/>
                </a:lnTo>
                <a:lnTo>
                  <a:pt x="0" y="14196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3" t="-998" b="-9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237847" y="916878"/>
            <a:ext cx="10918093" cy="142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80"/>
              </a:lnSpc>
            </a:pPr>
            <a:r>
              <a:rPr lang="en-US" sz="9400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WHO WE ARE?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27532" y="3533894"/>
            <a:ext cx="9265833" cy="60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6"/>
              </a:lnSpc>
            </a:pPr>
            <a:r>
              <a:rPr lang="en-US" sz="3635" b="1">
                <a:solidFill>
                  <a:srgbClr val="FEFCF6"/>
                </a:solidFill>
                <a:latin typeface="DM Sans Bold"/>
                <a:ea typeface="DM Sans Bold"/>
                <a:cs typeface="DM Sans Bold"/>
                <a:sym typeface="DM Sans Bold"/>
              </a:rPr>
              <a:t>We are a data analytics consultancy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27532" y="4494482"/>
            <a:ext cx="11054553" cy="1107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6"/>
              </a:lnSpc>
              <a:spcBef>
                <a:spcPct val="0"/>
              </a:spcBef>
            </a:pPr>
            <a:r>
              <a:rPr lang="en-US" sz="3207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Working with </a:t>
            </a:r>
            <a:r>
              <a:rPr lang="en-US" sz="3207" b="1">
                <a:solidFill>
                  <a:srgbClr val="BC3A41"/>
                </a:solidFill>
                <a:latin typeface="Heebo Bold"/>
                <a:ea typeface="Heebo Bold"/>
                <a:cs typeface="Heebo Bold"/>
                <a:sym typeface="Heebo Bold"/>
              </a:rPr>
              <a:t>InsightEdge</a:t>
            </a:r>
            <a:r>
              <a:rPr lang="en-US" sz="3207">
                <a:solidFill>
                  <a:srgbClr val="BC3A41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3207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Analytics, specializing in strategic, data-driven solutions for </a:t>
            </a:r>
            <a:r>
              <a:rPr lang="en-US" sz="3207" b="1">
                <a:solidFill>
                  <a:srgbClr val="BC3A41"/>
                </a:solidFill>
                <a:latin typeface="Heebo Bold"/>
                <a:ea typeface="Heebo Bold"/>
                <a:cs typeface="Heebo Bold"/>
                <a:sym typeface="Heebo Bold"/>
              </a:rPr>
              <a:t>media</a:t>
            </a:r>
            <a:r>
              <a:rPr lang="en-US" sz="3207">
                <a:solidFill>
                  <a:srgbClr val="BC3A41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3207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companies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27532" y="6570566"/>
            <a:ext cx="9265833" cy="60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6"/>
              </a:lnSpc>
            </a:pPr>
            <a:r>
              <a:rPr lang="en-US" sz="3635" b="1">
                <a:solidFill>
                  <a:srgbClr val="FEFCF6"/>
                </a:solidFill>
                <a:latin typeface="DM Sans Bold"/>
                <a:ea typeface="DM Sans Bold"/>
                <a:cs typeface="DM Sans Bold"/>
                <a:sym typeface="DM Sans Bold"/>
              </a:rPr>
              <a:t>Our Mission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27532" y="7504344"/>
            <a:ext cx="11397346" cy="1117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6"/>
              </a:lnSpc>
            </a:pPr>
            <a:r>
              <a:rPr lang="en-US" sz="3207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Empowering media business with </a:t>
            </a:r>
            <a:r>
              <a:rPr lang="en-US" sz="3207" b="1">
                <a:solidFill>
                  <a:srgbClr val="BC3A41"/>
                </a:solidFill>
                <a:latin typeface="DM Sans Bold"/>
                <a:ea typeface="DM Sans Bold"/>
                <a:cs typeface="DM Sans Bold"/>
                <a:sym typeface="DM Sans Bold"/>
              </a:rPr>
              <a:t>actionable insights</a:t>
            </a:r>
            <a:r>
              <a:rPr lang="en-US" sz="3207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 to enhance performance and drive smarter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630392" flipH="1">
            <a:off x="15653152" y="7568550"/>
            <a:ext cx="3353896" cy="3090152"/>
          </a:xfrm>
          <a:custGeom>
            <a:avLst/>
            <a:gdLst/>
            <a:ahLst/>
            <a:cxnLst/>
            <a:rect l="l" t="t" r="r" b="b"/>
            <a:pathLst>
              <a:path w="3353896" h="3090152">
                <a:moveTo>
                  <a:pt x="3353896" y="0"/>
                </a:moveTo>
                <a:lnTo>
                  <a:pt x="0" y="0"/>
                </a:lnTo>
                <a:lnTo>
                  <a:pt x="0" y="3090152"/>
                </a:lnTo>
                <a:lnTo>
                  <a:pt x="3353896" y="3090152"/>
                </a:lnTo>
                <a:lnTo>
                  <a:pt x="3353896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2444432">
            <a:off x="14658712" y="-1634908"/>
            <a:ext cx="5007968" cy="4139864"/>
          </a:xfrm>
          <a:custGeom>
            <a:avLst/>
            <a:gdLst/>
            <a:ahLst/>
            <a:cxnLst/>
            <a:rect l="l" t="t" r="r" b="b"/>
            <a:pathLst>
              <a:path w="5007968" h="4139864">
                <a:moveTo>
                  <a:pt x="0" y="0"/>
                </a:moveTo>
                <a:lnTo>
                  <a:pt x="5007968" y="0"/>
                </a:lnTo>
                <a:lnTo>
                  <a:pt x="5007968" y="4139864"/>
                </a:lnTo>
                <a:lnTo>
                  <a:pt x="0" y="41398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706500" y="700926"/>
            <a:ext cx="3146502" cy="3092852"/>
          </a:xfrm>
          <a:custGeom>
            <a:avLst/>
            <a:gdLst/>
            <a:ahLst/>
            <a:cxnLst/>
            <a:rect l="l" t="t" r="r" b="b"/>
            <a:pathLst>
              <a:path w="3146502" h="3092852">
                <a:moveTo>
                  <a:pt x="0" y="0"/>
                </a:moveTo>
                <a:lnTo>
                  <a:pt x="3146502" y="0"/>
                </a:lnTo>
                <a:lnTo>
                  <a:pt x="3146502" y="3092852"/>
                </a:lnTo>
                <a:lnTo>
                  <a:pt x="0" y="3092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183823" y="700926"/>
            <a:ext cx="5577490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500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Agenda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17675" y="3535899"/>
            <a:ext cx="3441750" cy="536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45475" y="3535899"/>
            <a:ext cx="3441750" cy="1088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73275" y="3535899"/>
            <a:ext cx="3441750" cy="536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Aim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01075" y="3535899"/>
            <a:ext cx="3441750" cy="536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Objectives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414850" y="2706097"/>
            <a:ext cx="3594500" cy="19050"/>
          </a:xfrm>
          <a:prstGeom prst="line">
            <a:avLst/>
          </a:prstGeom>
          <a:ln w="19050" cap="rnd">
            <a:solidFill>
              <a:srgbClr val="BDB6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7342750" y="2706097"/>
            <a:ext cx="3594500" cy="19050"/>
          </a:xfrm>
          <a:prstGeom prst="line">
            <a:avLst/>
          </a:prstGeom>
          <a:ln w="19050" cap="rnd">
            <a:solidFill>
              <a:srgbClr val="BDB6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11270650" y="2715622"/>
            <a:ext cx="3575000" cy="0"/>
          </a:xfrm>
          <a:prstGeom prst="line">
            <a:avLst/>
          </a:prstGeom>
          <a:ln w="19050" cap="rnd">
            <a:solidFill>
              <a:srgbClr val="BDB6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3238450" y="2892022"/>
            <a:ext cx="100" cy="701027"/>
          </a:xfrm>
          <a:prstGeom prst="line">
            <a:avLst/>
          </a:prstGeom>
          <a:ln w="9525" cap="rnd">
            <a:solidFill>
              <a:srgbClr val="BDB69D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7166350" y="2892022"/>
            <a:ext cx="0" cy="701027"/>
          </a:xfrm>
          <a:prstGeom prst="line">
            <a:avLst/>
          </a:prstGeom>
          <a:ln w="9525" cap="rnd">
            <a:solidFill>
              <a:srgbClr val="BDB69D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flipH="1">
            <a:off x="11094150" y="2892022"/>
            <a:ext cx="100" cy="701027"/>
          </a:xfrm>
          <a:prstGeom prst="line">
            <a:avLst/>
          </a:prstGeom>
          <a:ln w="9525" cap="rnd">
            <a:solidFill>
              <a:srgbClr val="BDB69D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 flipH="1">
            <a:off x="15021950" y="2892022"/>
            <a:ext cx="100" cy="701027"/>
          </a:xfrm>
          <a:prstGeom prst="line">
            <a:avLst/>
          </a:prstGeom>
          <a:ln w="9525" cap="rnd">
            <a:solidFill>
              <a:srgbClr val="BDB69D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517675" y="7444448"/>
            <a:ext cx="3441750" cy="536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Analysis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21775" y="7444448"/>
            <a:ext cx="3441750" cy="536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Recommendations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98875" y="7444448"/>
            <a:ext cx="3441750" cy="536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Conclusion</a:t>
            </a:r>
          </a:p>
        </p:txBody>
      </p:sp>
      <p:sp>
        <p:nvSpPr>
          <p:cNvPr id="21" name="AutoShape 21"/>
          <p:cNvSpPr/>
          <p:nvPr/>
        </p:nvSpPr>
        <p:spPr>
          <a:xfrm flipV="1">
            <a:off x="3414850" y="6831994"/>
            <a:ext cx="3751400" cy="4762"/>
          </a:xfrm>
          <a:prstGeom prst="line">
            <a:avLst/>
          </a:prstGeom>
          <a:ln w="19050" cap="rnd">
            <a:solidFill>
              <a:srgbClr val="BDB6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AutoShape 22"/>
          <p:cNvSpPr/>
          <p:nvPr/>
        </p:nvSpPr>
        <p:spPr>
          <a:xfrm>
            <a:off x="7519050" y="6831994"/>
            <a:ext cx="3924300" cy="4763"/>
          </a:xfrm>
          <a:prstGeom prst="line">
            <a:avLst/>
          </a:prstGeom>
          <a:ln w="19050" cap="rnd">
            <a:solidFill>
              <a:srgbClr val="BDB6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>
            <a:off x="3238450" y="7013156"/>
            <a:ext cx="100" cy="488442"/>
          </a:xfrm>
          <a:prstGeom prst="line">
            <a:avLst/>
          </a:prstGeom>
          <a:ln w="9525" cap="rnd">
            <a:solidFill>
              <a:srgbClr val="BDB69D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>
            <a:off x="7342650" y="7008394"/>
            <a:ext cx="0" cy="493204"/>
          </a:xfrm>
          <a:prstGeom prst="line">
            <a:avLst/>
          </a:prstGeom>
          <a:ln w="9525" cap="rnd">
            <a:solidFill>
              <a:srgbClr val="BDB69D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25"/>
          <p:cNvSpPr/>
          <p:nvPr/>
        </p:nvSpPr>
        <p:spPr>
          <a:xfrm>
            <a:off x="11619750" y="7013156"/>
            <a:ext cx="0" cy="488442"/>
          </a:xfrm>
          <a:prstGeom prst="line">
            <a:avLst/>
          </a:prstGeom>
          <a:ln w="9525" cap="rnd">
            <a:solidFill>
              <a:srgbClr val="BDB69D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 flipH="1">
            <a:off x="3062050" y="2715622"/>
            <a:ext cx="12136400" cy="4121134"/>
          </a:xfrm>
          <a:prstGeom prst="line">
            <a:avLst/>
          </a:prstGeom>
          <a:ln w="19050" cap="rnd">
            <a:solidFill>
              <a:srgbClr val="BDB6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3062050" y="2539222"/>
            <a:ext cx="352800" cy="352800"/>
            <a:chOff x="0" y="0"/>
            <a:chExt cx="470400" cy="470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70408" cy="470408"/>
            </a:xfrm>
            <a:custGeom>
              <a:avLst/>
              <a:gdLst/>
              <a:ahLst/>
              <a:cxnLst/>
              <a:rect l="l" t="t" r="r" b="b"/>
              <a:pathLst>
                <a:path w="470408" h="470408">
                  <a:moveTo>
                    <a:pt x="0" y="235204"/>
                  </a:moveTo>
                  <a:cubicBezTo>
                    <a:pt x="0" y="105283"/>
                    <a:pt x="105283" y="0"/>
                    <a:pt x="235204" y="0"/>
                  </a:cubicBezTo>
                  <a:cubicBezTo>
                    <a:pt x="365125" y="0"/>
                    <a:pt x="470408" y="105283"/>
                    <a:pt x="470408" y="235204"/>
                  </a:cubicBezTo>
                  <a:cubicBezTo>
                    <a:pt x="470408" y="365125"/>
                    <a:pt x="365125" y="470408"/>
                    <a:pt x="235204" y="470408"/>
                  </a:cubicBezTo>
                  <a:cubicBezTo>
                    <a:pt x="105283" y="470408"/>
                    <a:pt x="0" y="365125"/>
                    <a:pt x="0" y="235204"/>
                  </a:cubicBezTo>
                  <a:close/>
                </a:path>
              </a:pathLst>
            </a:custGeom>
            <a:solidFill>
              <a:srgbClr val="DB001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989950" y="2539222"/>
            <a:ext cx="352800" cy="352800"/>
            <a:chOff x="0" y="0"/>
            <a:chExt cx="470400" cy="470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70408" cy="470408"/>
            </a:xfrm>
            <a:custGeom>
              <a:avLst/>
              <a:gdLst/>
              <a:ahLst/>
              <a:cxnLst/>
              <a:rect l="l" t="t" r="r" b="b"/>
              <a:pathLst>
                <a:path w="470408" h="470408">
                  <a:moveTo>
                    <a:pt x="0" y="235204"/>
                  </a:moveTo>
                  <a:cubicBezTo>
                    <a:pt x="0" y="105283"/>
                    <a:pt x="105283" y="0"/>
                    <a:pt x="235204" y="0"/>
                  </a:cubicBezTo>
                  <a:cubicBezTo>
                    <a:pt x="365125" y="0"/>
                    <a:pt x="470408" y="105283"/>
                    <a:pt x="470408" y="235204"/>
                  </a:cubicBezTo>
                  <a:cubicBezTo>
                    <a:pt x="470408" y="365125"/>
                    <a:pt x="365125" y="470408"/>
                    <a:pt x="235204" y="470408"/>
                  </a:cubicBezTo>
                  <a:cubicBezTo>
                    <a:pt x="105283" y="470408"/>
                    <a:pt x="0" y="365125"/>
                    <a:pt x="0" y="235204"/>
                  </a:cubicBezTo>
                  <a:close/>
                </a:path>
              </a:pathLst>
            </a:custGeom>
            <a:solidFill>
              <a:srgbClr val="DB001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917850" y="2539222"/>
            <a:ext cx="352800" cy="352800"/>
            <a:chOff x="0" y="0"/>
            <a:chExt cx="470400" cy="470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70408" cy="470408"/>
            </a:xfrm>
            <a:custGeom>
              <a:avLst/>
              <a:gdLst/>
              <a:ahLst/>
              <a:cxnLst/>
              <a:rect l="l" t="t" r="r" b="b"/>
              <a:pathLst>
                <a:path w="470408" h="470408">
                  <a:moveTo>
                    <a:pt x="0" y="235204"/>
                  </a:moveTo>
                  <a:cubicBezTo>
                    <a:pt x="0" y="105283"/>
                    <a:pt x="105283" y="0"/>
                    <a:pt x="235204" y="0"/>
                  </a:cubicBezTo>
                  <a:cubicBezTo>
                    <a:pt x="365125" y="0"/>
                    <a:pt x="470408" y="105283"/>
                    <a:pt x="470408" y="235204"/>
                  </a:cubicBezTo>
                  <a:cubicBezTo>
                    <a:pt x="470408" y="365125"/>
                    <a:pt x="365125" y="470408"/>
                    <a:pt x="235204" y="470408"/>
                  </a:cubicBezTo>
                  <a:cubicBezTo>
                    <a:pt x="105283" y="470408"/>
                    <a:pt x="0" y="365125"/>
                    <a:pt x="0" y="235204"/>
                  </a:cubicBezTo>
                  <a:close/>
                </a:path>
              </a:pathLst>
            </a:custGeom>
            <a:solidFill>
              <a:srgbClr val="DB001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4845650" y="2539222"/>
            <a:ext cx="352800" cy="352800"/>
            <a:chOff x="0" y="0"/>
            <a:chExt cx="470400" cy="470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70408" cy="470408"/>
            </a:xfrm>
            <a:custGeom>
              <a:avLst/>
              <a:gdLst/>
              <a:ahLst/>
              <a:cxnLst/>
              <a:rect l="l" t="t" r="r" b="b"/>
              <a:pathLst>
                <a:path w="470408" h="470408">
                  <a:moveTo>
                    <a:pt x="0" y="235204"/>
                  </a:moveTo>
                  <a:cubicBezTo>
                    <a:pt x="0" y="105283"/>
                    <a:pt x="105283" y="0"/>
                    <a:pt x="235204" y="0"/>
                  </a:cubicBezTo>
                  <a:cubicBezTo>
                    <a:pt x="365125" y="0"/>
                    <a:pt x="470408" y="105283"/>
                    <a:pt x="470408" y="235204"/>
                  </a:cubicBezTo>
                  <a:cubicBezTo>
                    <a:pt x="470408" y="365125"/>
                    <a:pt x="365125" y="470408"/>
                    <a:pt x="235204" y="470408"/>
                  </a:cubicBezTo>
                  <a:cubicBezTo>
                    <a:pt x="105283" y="470408"/>
                    <a:pt x="0" y="365125"/>
                    <a:pt x="0" y="235204"/>
                  </a:cubicBezTo>
                  <a:close/>
                </a:path>
              </a:pathLst>
            </a:custGeom>
            <a:solidFill>
              <a:srgbClr val="DB001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062050" y="6660356"/>
            <a:ext cx="352800" cy="352800"/>
            <a:chOff x="0" y="0"/>
            <a:chExt cx="470400" cy="470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70408" cy="470408"/>
            </a:xfrm>
            <a:custGeom>
              <a:avLst/>
              <a:gdLst/>
              <a:ahLst/>
              <a:cxnLst/>
              <a:rect l="l" t="t" r="r" b="b"/>
              <a:pathLst>
                <a:path w="470408" h="470408">
                  <a:moveTo>
                    <a:pt x="0" y="235204"/>
                  </a:moveTo>
                  <a:cubicBezTo>
                    <a:pt x="0" y="105283"/>
                    <a:pt x="105283" y="0"/>
                    <a:pt x="235204" y="0"/>
                  </a:cubicBezTo>
                  <a:cubicBezTo>
                    <a:pt x="365125" y="0"/>
                    <a:pt x="470408" y="105283"/>
                    <a:pt x="470408" y="235204"/>
                  </a:cubicBezTo>
                  <a:cubicBezTo>
                    <a:pt x="470408" y="365125"/>
                    <a:pt x="365125" y="470408"/>
                    <a:pt x="235204" y="470408"/>
                  </a:cubicBezTo>
                  <a:cubicBezTo>
                    <a:pt x="105283" y="470408"/>
                    <a:pt x="0" y="365125"/>
                    <a:pt x="0" y="235204"/>
                  </a:cubicBezTo>
                  <a:close/>
                </a:path>
              </a:pathLst>
            </a:custGeom>
            <a:solidFill>
              <a:srgbClr val="DB001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166250" y="6655594"/>
            <a:ext cx="352800" cy="352800"/>
            <a:chOff x="0" y="0"/>
            <a:chExt cx="470400" cy="470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70408" cy="470408"/>
            </a:xfrm>
            <a:custGeom>
              <a:avLst/>
              <a:gdLst/>
              <a:ahLst/>
              <a:cxnLst/>
              <a:rect l="l" t="t" r="r" b="b"/>
              <a:pathLst>
                <a:path w="470408" h="470408">
                  <a:moveTo>
                    <a:pt x="0" y="235204"/>
                  </a:moveTo>
                  <a:cubicBezTo>
                    <a:pt x="0" y="105283"/>
                    <a:pt x="105283" y="0"/>
                    <a:pt x="235204" y="0"/>
                  </a:cubicBezTo>
                  <a:cubicBezTo>
                    <a:pt x="365125" y="0"/>
                    <a:pt x="470408" y="105283"/>
                    <a:pt x="470408" y="235204"/>
                  </a:cubicBezTo>
                  <a:cubicBezTo>
                    <a:pt x="470408" y="365125"/>
                    <a:pt x="365125" y="470408"/>
                    <a:pt x="235204" y="470408"/>
                  </a:cubicBezTo>
                  <a:cubicBezTo>
                    <a:pt x="105283" y="470408"/>
                    <a:pt x="0" y="365125"/>
                    <a:pt x="0" y="235204"/>
                  </a:cubicBezTo>
                  <a:close/>
                </a:path>
              </a:pathLst>
            </a:custGeom>
            <a:solidFill>
              <a:srgbClr val="DB001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443350" y="6660356"/>
            <a:ext cx="352800" cy="352800"/>
            <a:chOff x="0" y="0"/>
            <a:chExt cx="470400" cy="470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70408" cy="470408"/>
            </a:xfrm>
            <a:custGeom>
              <a:avLst/>
              <a:gdLst/>
              <a:ahLst/>
              <a:cxnLst/>
              <a:rect l="l" t="t" r="r" b="b"/>
              <a:pathLst>
                <a:path w="470408" h="470408">
                  <a:moveTo>
                    <a:pt x="0" y="235204"/>
                  </a:moveTo>
                  <a:cubicBezTo>
                    <a:pt x="0" y="105283"/>
                    <a:pt x="105283" y="0"/>
                    <a:pt x="235204" y="0"/>
                  </a:cubicBezTo>
                  <a:cubicBezTo>
                    <a:pt x="365125" y="0"/>
                    <a:pt x="470408" y="105283"/>
                    <a:pt x="470408" y="235204"/>
                  </a:cubicBezTo>
                  <a:cubicBezTo>
                    <a:pt x="470408" y="365125"/>
                    <a:pt x="365125" y="470408"/>
                    <a:pt x="235204" y="470408"/>
                  </a:cubicBezTo>
                  <a:cubicBezTo>
                    <a:pt x="105283" y="470408"/>
                    <a:pt x="0" y="365125"/>
                    <a:pt x="0" y="235204"/>
                  </a:cubicBezTo>
                  <a:close/>
                </a:path>
              </a:pathLst>
            </a:custGeom>
            <a:solidFill>
              <a:srgbClr val="DB0011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707217" y="8436771"/>
            <a:ext cx="5104166" cy="4400650"/>
          </a:xfrm>
          <a:custGeom>
            <a:avLst/>
            <a:gdLst/>
            <a:ahLst/>
            <a:cxnLst/>
            <a:rect l="l" t="t" r="r" b="b"/>
            <a:pathLst>
              <a:path w="5104166" h="4400650">
                <a:moveTo>
                  <a:pt x="0" y="0"/>
                </a:moveTo>
                <a:lnTo>
                  <a:pt x="5104166" y="0"/>
                </a:lnTo>
                <a:lnTo>
                  <a:pt x="5104166" y="4400650"/>
                </a:lnTo>
                <a:lnTo>
                  <a:pt x="0" y="4400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5400000">
            <a:off x="-1953284" y="2570166"/>
            <a:ext cx="3146502" cy="3092852"/>
          </a:xfrm>
          <a:custGeom>
            <a:avLst/>
            <a:gdLst/>
            <a:ahLst/>
            <a:cxnLst/>
            <a:rect l="l" t="t" r="r" b="b"/>
            <a:pathLst>
              <a:path w="3146502" h="3092852">
                <a:moveTo>
                  <a:pt x="0" y="0"/>
                </a:moveTo>
                <a:lnTo>
                  <a:pt x="3146502" y="0"/>
                </a:lnTo>
                <a:lnTo>
                  <a:pt x="3146502" y="3092852"/>
                </a:lnTo>
                <a:lnTo>
                  <a:pt x="0" y="3092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3386684" y="2487604"/>
            <a:ext cx="2427202" cy="2427202"/>
            <a:chOff x="0" y="0"/>
            <a:chExt cx="3236270" cy="323627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3236270" cy="3236270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EED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0" y="0"/>
              <a:ext cx="3236270" cy="3236270"/>
            </a:xfrm>
            <a:custGeom>
              <a:avLst/>
              <a:gdLst/>
              <a:ahLst/>
              <a:cxnLst/>
              <a:rect l="l" t="t" r="r" b="b"/>
              <a:pathLst>
                <a:path w="3236270" h="3236270">
                  <a:moveTo>
                    <a:pt x="0" y="0"/>
                  </a:moveTo>
                  <a:lnTo>
                    <a:pt x="3236270" y="0"/>
                  </a:lnTo>
                  <a:lnTo>
                    <a:pt x="3236270" y="3236270"/>
                  </a:lnTo>
                  <a:lnTo>
                    <a:pt x="0" y="3236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3214" r="-3321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269240" y="3231429"/>
            <a:ext cx="1167444" cy="1167444"/>
            <a:chOff x="0" y="0"/>
            <a:chExt cx="1556592" cy="1556592"/>
          </a:xfrm>
        </p:grpSpPr>
        <p:grpSp>
          <p:nvGrpSpPr>
            <p:cNvPr id="11" name="Group 11"/>
            <p:cNvGrpSpPr/>
            <p:nvPr/>
          </p:nvGrpSpPr>
          <p:grpSpPr>
            <a:xfrm>
              <a:off x="242138" y="431371"/>
              <a:ext cx="1072317" cy="547389"/>
              <a:chOff x="0" y="0"/>
              <a:chExt cx="379006" cy="19347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379006" cy="193472"/>
              </a:xfrm>
              <a:custGeom>
                <a:avLst/>
                <a:gdLst/>
                <a:ahLst/>
                <a:cxnLst/>
                <a:rect l="l" t="t" r="r" b="b"/>
                <a:pathLst>
                  <a:path w="379006" h="193472">
                    <a:moveTo>
                      <a:pt x="0" y="0"/>
                    </a:moveTo>
                    <a:lnTo>
                      <a:pt x="379006" y="0"/>
                    </a:lnTo>
                    <a:lnTo>
                      <a:pt x="379006" y="193472"/>
                    </a:lnTo>
                    <a:lnTo>
                      <a:pt x="0" y="19347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379006" cy="2315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0" y="0"/>
              <a:ext cx="1556592" cy="1556592"/>
            </a:xfrm>
            <a:custGeom>
              <a:avLst/>
              <a:gdLst/>
              <a:ahLst/>
              <a:cxnLst/>
              <a:rect l="l" t="t" r="r" b="b"/>
              <a:pathLst>
                <a:path w="1556592" h="1556592">
                  <a:moveTo>
                    <a:pt x="0" y="0"/>
                  </a:moveTo>
                  <a:lnTo>
                    <a:pt x="1556592" y="0"/>
                  </a:lnTo>
                  <a:lnTo>
                    <a:pt x="1556592" y="1556592"/>
                  </a:lnTo>
                  <a:lnTo>
                    <a:pt x="0" y="155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4042785" y="3250590"/>
            <a:ext cx="1148284" cy="1148284"/>
          </a:xfrm>
          <a:custGeom>
            <a:avLst/>
            <a:gdLst/>
            <a:ahLst/>
            <a:cxnLst/>
            <a:rect l="l" t="t" r="r" b="b"/>
            <a:pathLst>
              <a:path w="1148284" h="1148284">
                <a:moveTo>
                  <a:pt x="0" y="0"/>
                </a:moveTo>
                <a:lnTo>
                  <a:pt x="1148284" y="0"/>
                </a:lnTo>
                <a:lnTo>
                  <a:pt x="1148284" y="1148284"/>
                </a:lnTo>
                <a:lnTo>
                  <a:pt x="0" y="11482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1352621" y="4582752"/>
            <a:ext cx="1121495" cy="1121495"/>
          </a:xfrm>
          <a:custGeom>
            <a:avLst/>
            <a:gdLst/>
            <a:ahLst/>
            <a:cxnLst/>
            <a:rect l="l" t="t" r="r" b="b"/>
            <a:pathLst>
              <a:path w="1121495" h="1121495">
                <a:moveTo>
                  <a:pt x="0" y="0"/>
                </a:moveTo>
                <a:lnTo>
                  <a:pt x="1121495" y="0"/>
                </a:lnTo>
                <a:lnTo>
                  <a:pt x="1121495" y="1121495"/>
                </a:lnTo>
                <a:lnTo>
                  <a:pt x="0" y="11214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0507356" y="3246453"/>
            <a:ext cx="1153612" cy="1142840"/>
            <a:chOff x="0" y="0"/>
            <a:chExt cx="1538150" cy="1523787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1538150" cy="1523787"/>
              <a:chOff x="0" y="0"/>
              <a:chExt cx="319911" cy="31692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19911" cy="316924"/>
              </a:xfrm>
              <a:custGeom>
                <a:avLst/>
                <a:gdLst/>
                <a:ahLst/>
                <a:cxnLst/>
                <a:rect l="l" t="t" r="r" b="b"/>
                <a:pathLst>
                  <a:path w="319911" h="316924">
                    <a:moveTo>
                      <a:pt x="114727" y="0"/>
                    </a:moveTo>
                    <a:lnTo>
                      <a:pt x="205184" y="0"/>
                    </a:lnTo>
                    <a:cubicBezTo>
                      <a:pt x="235611" y="0"/>
                      <a:pt x="264792" y="12087"/>
                      <a:pt x="286308" y="33603"/>
                    </a:cubicBezTo>
                    <a:cubicBezTo>
                      <a:pt x="307823" y="55118"/>
                      <a:pt x="319911" y="84300"/>
                      <a:pt x="319911" y="114727"/>
                    </a:cubicBezTo>
                    <a:lnTo>
                      <a:pt x="319911" y="202196"/>
                    </a:lnTo>
                    <a:cubicBezTo>
                      <a:pt x="319911" y="232624"/>
                      <a:pt x="307823" y="261805"/>
                      <a:pt x="286308" y="283321"/>
                    </a:cubicBezTo>
                    <a:cubicBezTo>
                      <a:pt x="264792" y="304836"/>
                      <a:pt x="235611" y="316924"/>
                      <a:pt x="205184" y="316924"/>
                    </a:cubicBezTo>
                    <a:lnTo>
                      <a:pt x="114727" y="316924"/>
                    </a:lnTo>
                    <a:cubicBezTo>
                      <a:pt x="84300" y="316924"/>
                      <a:pt x="55118" y="304836"/>
                      <a:pt x="33603" y="283321"/>
                    </a:cubicBezTo>
                    <a:cubicBezTo>
                      <a:pt x="12087" y="261805"/>
                      <a:pt x="0" y="232624"/>
                      <a:pt x="0" y="202196"/>
                    </a:cubicBezTo>
                    <a:lnTo>
                      <a:pt x="0" y="114727"/>
                    </a:lnTo>
                    <a:cubicBezTo>
                      <a:pt x="0" y="84300"/>
                      <a:pt x="12087" y="55118"/>
                      <a:pt x="33603" y="33603"/>
                    </a:cubicBezTo>
                    <a:cubicBezTo>
                      <a:pt x="55118" y="12087"/>
                      <a:pt x="84300" y="0"/>
                      <a:pt x="11472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319911" cy="3550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47385" y="40204"/>
              <a:ext cx="1443380" cy="1443380"/>
            </a:xfrm>
            <a:custGeom>
              <a:avLst/>
              <a:gdLst/>
              <a:ahLst/>
              <a:cxnLst/>
              <a:rect l="l" t="t" r="r" b="b"/>
              <a:pathLst>
                <a:path w="1443380" h="1443380">
                  <a:moveTo>
                    <a:pt x="0" y="0"/>
                  </a:moveTo>
                  <a:lnTo>
                    <a:pt x="1443380" y="0"/>
                  </a:lnTo>
                  <a:lnTo>
                    <a:pt x="1443380" y="1443380"/>
                  </a:lnTo>
                  <a:lnTo>
                    <a:pt x="0" y="1443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574929" y="5209106"/>
            <a:ext cx="7204039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 b="1" dirty="0" err="1">
                <a:solidFill>
                  <a:srgbClr val="BDB69D"/>
                </a:solidFill>
                <a:latin typeface="Heebo Bold"/>
                <a:ea typeface="Heebo Bold"/>
                <a:cs typeface="Heebo Bold"/>
                <a:sym typeface="Heebo Bold"/>
              </a:rPr>
              <a:t>StreamVerse</a:t>
            </a:r>
            <a:r>
              <a:rPr lang="en-US" sz="3000" b="1" dirty="0">
                <a:solidFill>
                  <a:srgbClr val="BDB69D"/>
                </a:solidFill>
                <a:latin typeface="Heebo Bold"/>
                <a:ea typeface="Heebo Bold"/>
                <a:cs typeface="Heebo Bold"/>
                <a:sym typeface="Heebo Bold"/>
              </a:rPr>
              <a:t> Media</a:t>
            </a:r>
            <a:r>
              <a:rPr lang="en-US" sz="3000" dirty="0">
                <a:solidFill>
                  <a:srgbClr val="BDB69D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3000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is a fast-growing platform that owns and operates a leading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66393" y="748917"/>
            <a:ext cx="15225150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Introduction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74929" y="7064502"/>
            <a:ext cx="15111708" cy="2193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6"/>
              </a:lnSpc>
              <a:spcBef>
                <a:spcPct val="0"/>
              </a:spcBef>
            </a:pPr>
            <a:r>
              <a:rPr lang="en-US" sz="3200" b="1">
                <a:solidFill>
                  <a:srgbClr val="BDB69D"/>
                </a:solidFill>
                <a:latin typeface="Heebo Bold"/>
                <a:ea typeface="Heebo Bold"/>
                <a:cs typeface="Heebo Bold"/>
                <a:sym typeface="Heebo Bold"/>
              </a:rPr>
              <a:t> Market Highlight</a:t>
            </a:r>
          </a:p>
          <a:p>
            <a:pPr marL="690881" lvl="1" indent="-345440" algn="l">
              <a:lnSpc>
                <a:spcPts val="4416"/>
              </a:lnSpc>
              <a:buFont typeface="Arial"/>
              <a:buChar char="•"/>
            </a:pPr>
            <a:r>
              <a:rPr lang="en-US" sz="320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Netflix leads with 300M+ subscribers and $39B revenue.</a:t>
            </a:r>
          </a:p>
          <a:p>
            <a:pPr marL="690881" lvl="1" indent="-345440" algn="l">
              <a:lnSpc>
                <a:spcPts val="4416"/>
              </a:lnSpc>
              <a:buFont typeface="Arial"/>
              <a:buChar char="•"/>
            </a:pPr>
            <a:r>
              <a:rPr lang="en-US" sz="320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Hulu and HBO Max have large audiences, but regional content limitations reduce accessibility.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3250517" y="4582752"/>
            <a:ext cx="1167895" cy="1167895"/>
            <a:chOff x="0" y="0"/>
            <a:chExt cx="1557193" cy="1557193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1557193" cy="1557193"/>
              <a:chOff x="0" y="0"/>
              <a:chExt cx="336739" cy="33673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336739" cy="336739"/>
              </a:xfrm>
              <a:custGeom>
                <a:avLst/>
                <a:gdLst/>
                <a:ahLst/>
                <a:cxnLst/>
                <a:rect l="l" t="t" r="r" b="b"/>
                <a:pathLst>
                  <a:path w="336739" h="336739">
                    <a:moveTo>
                      <a:pt x="108994" y="0"/>
                    </a:moveTo>
                    <a:lnTo>
                      <a:pt x="227745" y="0"/>
                    </a:lnTo>
                    <a:cubicBezTo>
                      <a:pt x="256652" y="0"/>
                      <a:pt x="284375" y="11483"/>
                      <a:pt x="304815" y="31924"/>
                    </a:cubicBezTo>
                    <a:cubicBezTo>
                      <a:pt x="325255" y="52364"/>
                      <a:pt x="336739" y="80087"/>
                      <a:pt x="336739" y="108994"/>
                    </a:cubicBezTo>
                    <a:lnTo>
                      <a:pt x="336739" y="227745"/>
                    </a:lnTo>
                    <a:cubicBezTo>
                      <a:pt x="336739" y="256652"/>
                      <a:pt x="325255" y="284375"/>
                      <a:pt x="304815" y="304815"/>
                    </a:cubicBezTo>
                    <a:cubicBezTo>
                      <a:pt x="284375" y="325255"/>
                      <a:pt x="256652" y="336739"/>
                      <a:pt x="227745" y="336739"/>
                    </a:cubicBezTo>
                    <a:lnTo>
                      <a:pt x="108994" y="336739"/>
                    </a:lnTo>
                    <a:cubicBezTo>
                      <a:pt x="80087" y="336739"/>
                      <a:pt x="52364" y="325255"/>
                      <a:pt x="31924" y="304815"/>
                    </a:cubicBezTo>
                    <a:cubicBezTo>
                      <a:pt x="11483" y="284375"/>
                      <a:pt x="0" y="256652"/>
                      <a:pt x="0" y="227745"/>
                    </a:cubicBezTo>
                    <a:lnTo>
                      <a:pt x="0" y="108994"/>
                    </a:lnTo>
                    <a:cubicBezTo>
                      <a:pt x="0" y="80087"/>
                      <a:pt x="11483" y="52364"/>
                      <a:pt x="31924" y="31924"/>
                    </a:cubicBezTo>
                    <a:cubicBezTo>
                      <a:pt x="52364" y="11483"/>
                      <a:pt x="80087" y="0"/>
                      <a:pt x="10899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336739" cy="3748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0" name="Freeform 30"/>
            <p:cNvSpPr/>
            <p:nvPr/>
          </p:nvSpPr>
          <p:spPr>
            <a:xfrm>
              <a:off x="20754" y="352310"/>
              <a:ext cx="1515685" cy="852573"/>
            </a:xfrm>
            <a:custGeom>
              <a:avLst/>
              <a:gdLst/>
              <a:ahLst/>
              <a:cxnLst/>
              <a:rect l="l" t="t" r="r" b="b"/>
              <a:pathLst>
                <a:path w="1515685" h="852573">
                  <a:moveTo>
                    <a:pt x="0" y="0"/>
                  </a:moveTo>
                  <a:lnTo>
                    <a:pt x="1515685" y="0"/>
                  </a:lnTo>
                  <a:lnTo>
                    <a:pt x="1515685" y="852573"/>
                  </a:lnTo>
                  <a:lnTo>
                    <a:pt x="0" y="852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138951" b="-14543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7371" y="0"/>
            <a:ext cx="182880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755323" y="-1587737"/>
            <a:ext cx="5007954" cy="4139876"/>
          </a:xfrm>
          <a:custGeom>
            <a:avLst/>
            <a:gdLst/>
            <a:ahLst/>
            <a:cxnLst/>
            <a:rect l="l" t="t" r="r" b="b"/>
            <a:pathLst>
              <a:path w="5007954" h="4139876">
                <a:moveTo>
                  <a:pt x="0" y="0"/>
                </a:moveTo>
                <a:lnTo>
                  <a:pt x="5007954" y="0"/>
                </a:lnTo>
                <a:lnTo>
                  <a:pt x="5007954" y="4139876"/>
                </a:lnTo>
                <a:lnTo>
                  <a:pt x="0" y="4139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316700" y="8005876"/>
            <a:ext cx="3146502" cy="3092852"/>
          </a:xfrm>
          <a:custGeom>
            <a:avLst/>
            <a:gdLst/>
            <a:ahLst/>
            <a:cxnLst/>
            <a:rect l="l" t="t" r="r" b="b"/>
            <a:pathLst>
              <a:path w="3146502" h="3092852">
                <a:moveTo>
                  <a:pt x="0" y="0"/>
                </a:moveTo>
                <a:lnTo>
                  <a:pt x="3146502" y="0"/>
                </a:lnTo>
                <a:lnTo>
                  <a:pt x="3146502" y="3092852"/>
                </a:lnTo>
                <a:lnTo>
                  <a:pt x="0" y="3092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391729">
            <a:off x="15759551" y="7358949"/>
            <a:ext cx="2999498" cy="2640552"/>
          </a:xfrm>
          <a:custGeom>
            <a:avLst/>
            <a:gdLst/>
            <a:ahLst/>
            <a:cxnLst/>
            <a:rect l="l" t="t" r="r" b="b"/>
            <a:pathLst>
              <a:path w="2999498" h="2640552">
                <a:moveTo>
                  <a:pt x="0" y="0"/>
                </a:moveTo>
                <a:lnTo>
                  <a:pt x="2999498" y="0"/>
                </a:lnTo>
                <a:lnTo>
                  <a:pt x="2999498" y="2640552"/>
                </a:lnTo>
                <a:lnTo>
                  <a:pt x="0" y="26405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498471" y="795213"/>
            <a:ext cx="8138550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Problem Statement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8470" y="3022331"/>
            <a:ext cx="15948621" cy="3686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795"/>
              </a:lnSpc>
            </a:pPr>
            <a:r>
              <a:rPr lang="en-US" sz="4200" dirty="0" err="1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StreamVerse</a:t>
            </a:r>
            <a:r>
              <a:rPr lang="en-US" sz="4200" dirty="0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 Media offers millions of streaming options, is facing </a:t>
            </a:r>
            <a:r>
              <a:rPr lang="en-US" sz="4200" b="1" dirty="0">
                <a:solidFill>
                  <a:srgbClr val="BC3A41"/>
                </a:solidFill>
                <a:latin typeface="DM Sans Bold"/>
                <a:ea typeface="DM Sans Bold"/>
                <a:cs typeface="DM Sans Bold"/>
                <a:sym typeface="DM Sans Bold"/>
              </a:rPr>
              <a:t>reduced user engagement</a:t>
            </a:r>
            <a:r>
              <a:rPr lang="en-US" sz="4200" dirty="0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 due to content overload and limited variety, with </a:t>
            </a:r>
            <a:r>
              <a:rPr lang="en-US" sz="4200" b="1" dirty="0">
                <a:solidFill>
                  <a:srgbClr val="BC3A41"/>
                </a:solidFill>
                <a:latin typeface="DM Sans Bold"/>
                <a:ea typeface="DM Sans Bold"/>
                <a:cs typeface="DM Sans Bold"/>
                <a:sym typeface="DM Sans Bold"/>
              </a:rPr>
              <a:t>82%</a:t>
            </a:r>
            <a:r>
              <a:rPr lang="en-US" sz="4200" dirty="0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 of its library content being </a:t>
            </a:r>
            <a:r>
              <a:rPr lang="en-US" sz="4200" b="1" dirty="0">
                <a:solidFill>
                  <a:srgbClr val="BC3A41"/>
                </a:solidFill>
                <a:latin typeface="DM Sans Bold"/>
                <a:ea typeface="DM Sans Bold"/>
                <a:cs typeface="DM Sans Bold"/>
                <a:sym typeface="DM Sans Bold"/>
              </a:rPr>
              <a:t>movies</a:t>
            </a:r>
            <a:r>
              <a:rPr lang="en-US" sz="4200" dirty="0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. This imbalance may negatively affect its revenue and brand reputation.</a:t>
            </a:r>
          </a:p>
        </p:txBody>
      </p:sp>
      <p:sp>
        <p:nvSpPr>
          <p:cNvPr id="8" name="Freeform 8"/>
          <p:cNvSpPr/>
          <p:nvPr/>
        </p:nvSpPr>
        <p:spPr>
          <a:xfrm rot="1204894">
            <a:off x="-2083362" y="-22426"/>
            <a:ext cx="3146502" cy="3092852"/>
          </a:xfrm>
          <a:custGeom>
            <a:avLst/>
            <a:gdLst/>
            <a:ahLst/>
            <a:cxnLst/>
            <a:rect l="l" t="t" r="r" b="b"/>
            <a:pathLst>
              <a:path w="3146502" h="3092852">
                <a:moveTo>
                  <a:pt x="0" y="0"/>
                </a:moveTo>
                <a:lnTo>
                  <a:pt x="3146502" y="0"/>
                </a:lnTo>
                <a:lnTo>
                  <a:pt x="3146502" y="3092852"/>
                </a:lnTo>
                <a:lnTo>
                  <a:pt x="0" y="3092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723996" y="-482650"/>
            <a:ext cx="3146502" cy="3092852"/>
          </a:xfrm>
          <a:custGeom>
            <a:avLst/>
            <a:gdLst/>
            <a:ahLst/>
            <a:cxnLst/>
            <a:rect l="l" t="t" r="r" b="b"/>
            <a:pathLst>
              <a:path w="3146502" h="3092852">
                <a:moveTo>
                  <a:pt x="0" y="0"/>
                </a:moveTo>
                <a:lnTo>
                  <a:pt x="3146502" y="0"/>
                </a:lnTo>
                <a:lnTo>
                  <a:pt x="3146502" y="3092852"/>
                </a:lnTo>
                <a:lnTo>
                  <a:pt x="0" y="30928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900003">
            <a:off x="14838643" y="1504959"/>
            <a:ext cx="5007958" cy="4139876"/>
          </a:xfrm>
          <a:custGeom>
            <a:avLst/>
            <a:gdLst/>
            <a:ahLst/>
            <a:cxnLst/>
            <a:rect l="l" t="t" r="r" b="b"/>
            <a:pathLst>
              <a:path w="5007958" h="4139876">
                <a:moveTo>
                  <a:pt x="0" y="0"/>
                </a:moveTo>
                <a:lnTo>
                  <a:pt x="5007958" y="0"/>
                </a:lnTo>
                <a:lnTo>
                  <a:pt x="5007958" y="4139876"/>
                </a:lnTo>
                <a:lnTo>
                  <a:pt x="0" y="41398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41385">
            <a:off x="14635471" y="3298243"/>
            <a:ext cx="3760400" cy="5700452"/>
          </a:xfrm>
          <a:custGeom>
            <a:avLst/>
            <a:gdLst/>
            <a:ahLst/>
            <a:cxnLst/>
            <a:rect l="l" t="t" r="r" b="b"/>
            <a:pathLst>
              <a:path w="3760400" h="5700452">
                <a:moveTo>
                  <a:pt x="0" y="0"/>
                </a:moveTo>
                <a:lnTo>
                  <a:pt x="3760400" y="0"/>
                </a:lnTo>
                <a:lnTo>
                  <a:pt x="3760400" y="5700452"/>
                </a:lnTo>
                <a:lnTo>
                  <a:pt x="0" y="57004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>
            <a:off x="13602068" y="7376900"/>
            <a:ext cx="5827206" cy="3092852"/>
          </a:xfrm>
          <a:custGeom>
            <a:avLst/>
            <a:gdLst/>
            <a:ahLst/>
            <a:cxnLst/>
            <a:rect l="l" t="t" r="r" b="b"/>
            <a:pathLst>
              <a:path w="5827206" h="3092852">
                <a:moveTo>
                  <a:pt x="5827206" y="0"/>
                </a:moveTo>
                <a:lnTo>
                  <a:pt x="0" y="0"/>
                </a:lnTo>
                <a:lnTo>
                  <a:pt x="0" y="3092852"/>
                </a:lnTo>
                <a:lnTo>
                  <a:pt x="5827206" y="3092852"/>
                </a:lnTo>
                <a:lnTo>
                  <a:pt x="5827206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509442" y="398085"/>
            <a:ext cx="2999498" cy="2640552"/>
          </a:xfrm>
          <a:custGeom>
            <a:avLst/>
            <a:gdLst/>
            <a:ahLst/>
            <a:cxnLst/>
            <a:rect l="l" t="t" r="r" b="b"/>
            <a:pathLst>
              <a:path w="2999498" h="2640552">
                <a:moveTo>
                  <a:pt x="0" y="0"/>
                </a:moveTo>
                <a:lnTo>
                  <a:pt x="2999498" y="0"/>
                </a:lnTo>
                <a:lnTo>
                  <a:pt x="2999498" y="2640552"/>
                </a:lnTo>
                <a:lnTo>
                  <a:pt x="0" y="2640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922270" y="927411"/>
            <a:ext cx="4822167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 b="1" dirty="0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Aim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4565" y="3253864"/>
            <a:ext cx="12506175" cy="3694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795"/>
              </a:lnSpc>
              <a:spcBef>
                <a:spcPct val="0"/>
              </a:spcBef>
            </a:pPr>
            <a:r>
              <a:rPr lang="en-US" sz="4200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To provide actionable insights into the key factors that highlight each platform's </a:t>
            </a:r>
            <a:r>
              <a:rPr lang="en-US" sz="4200" b="1" dirty="0">
                <a:solidFill>
                  <a:srgbClr val="BC3A41"/>
                </a:solidFill>
                <a:latin typeface="Heebo Bold"/>
                <a:ea typeface="Heebo Bold"/>
                <a:cs typeface="Heebo Bold"/>
                <a:sym typeface="Heebo Bold"/>
              </a:rPr>
              <a:t>strengths, content variety, overlap, and freshness</a:t>
            </a:r>
            <a:r>
              <a:rPr lang="en-US" sz="4200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, and to offer clear strategies to enhance performance and drive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" y="49037"/>
            <a:ext cx="182880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921250" y="-929574"/>
            <a:ext cx="3146502" cy="3092852"/>
          </a:xfrm>
          <a:custGeom>
            <a:avLst/>
            <a:gdLst/>
            <a:ahLst/>
            <a:cxnLst/>
            <a:rect l="l" t="t" r="r" b="b"/>
            <a:pathLst>
              <a:path w="3146502" h="3092852">
                <a:moveTo>
                  <a:pt x="0" y="0"/>
                </a:moveTo>
                <a:lnTo>
                  <a:pt x="3146502" y="0"/>
                </a:lnTo>
                <a:lnTo>
                  <a:pt x="3146502" y="3092852"/>
                </a:lnTo>
                <a:lnTo>
                  <a:pt x="0" y="30928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267608" y="3949440"/>
            <a:ext cx="13386150" cy="536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 b="1">
                <a:solidFill>
                  <a:srgbClr val="BDB69D"/>
                </a:solidFill>
                <a:latin typeface="Heebo Bold"/>
                <a:ea typeface="Heebo Bold"/>
                <a:cs typeface="Heebo Bold"/>
                <a:sym typeface="Heebo Bold"/>
              </a:rPr>
              <a:t>Highlighting Content overlap and Gaps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82382" y="2175805"/>
            <a:ext cx="13386150" cy="536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 b="1">
                <a:solidFill>
                  <a:srgbClr val="BDB69D"/>
                </a:solidFill>
                <a:latin typeface="Heebo Bold"/>
                <a:ea typeface="Heebo Bold"/>
                <a:cs typeface="Heebo Bold"/>
                <a:sym typeface="Heebo Bold"/>
              </a:rPr>
              <a:t>Understanding Content Variety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52854" y="7935564"/>
            <a:ext cx="13386150" cy="536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 b="1">
                <a:solidFill>
                  <a:srgbClr val="BDB69D"/>
                </a:solidFill>
                <a:latin typeface="Heebo Bold"/>
                <a:ea typeface="Heebo Bold"/>
                <a:cs typeface="Heebo Bold"/>
                <a:sym typeface="Heebo Bold"/>
              </a:rPr>
              <a:t>Country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8228" y="2153753"/>
            <a:ext cx="1017150" cy="72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>
                <a:solidFill>
                  <a:srgbClr val="BDB69D"/>
                </a:solidFill>
                <a:latin typeface="Heebo Bold"/>
                <a:ea typeface="Heebo Bold"/>
                <a:cs typeface="Heebo Bold"/>
                <a:sym typeface="Heebo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3354" y="616852"/>
            <a:ext cx="15225150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 b="1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Objectives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52854" y="6351748"/>
            <a:ext cx="12778385" cy="1036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 dirty="0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Are certain platforms </a:t>
            </a:r>
            <a:r>
              <a:rPr lang="en-US" sz="3000" b="1" dirty="0">
                <a:solidFill>
                  <a:srgbClr val="BC3A41"/>
                </a:solidFill>
                <a:latin typeface="DM Sans Bold"/>
                <a:ea typeface="DM Sans Bold"/>
                <a:cs typeface="DM Sans Bold"/>
                <a:sym typeface="DM Sans Bold"/>
              </a:rPr>
              <a:t>lagging</a:t>
            </a:r>
            <a:r>
              <a:rPr lang="en-US" sz="3000" dirty="0">
                <a:solidFill>
                  <a:srgbClr val="BC3A4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dirty="0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in releasing </a:t>
            </a:r>
            <a:r>
              <a:rPr lang="en-US" sz="3000" b="1" dirty="0">
                <a:solidFill>
                  <a:srgbClr val="BC3A41"/>
                </a:solidFill>
                <a:latin typeface="DM Sans Bold"/>
                <a:ea typeface="DM Sans Bold"/>
                <a:cs typeface="DM Sans Bold"/>
                <a:sym typeface="DM Sans Bold"/>
              </a:rPr>
              <a:t>newer</a:t>
            </a:r>
            <a:r>
              <a:rPr lang="en-US" sz="3000" dirty="0">
                <a:solidFill>
                  <a:srgbClr val="BC3A4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dirty="0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content? And does new content received </a:t>
            </a:r>
            <a:r>
              <a:rPr lang="en-US" sz="3000" b="1" dirty="0">
                <a:solidFill>
                  <a:srgbClr val="BC3A41"/>
                </a:solidFill>
                <a:latin typeface="DM Sans Bold"/>
                <a:ea typeface="DM Sans Bold"/>
                <a:cs typeface="DM Sans Bold"/>
                <a:sym typeface="DM Sans Bold"/>
              </a:rPr>
              <a:t>higher rating</a:t>
            </a:r>
            <a:r>
              <a:rPr lang="en-US" sz="3000" dirty="0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?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82382" y="2818478"/>
            <a:ext cx="13386150" cy="1036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How well each platform </a:t>
            </a:r>
            <a:r>
              <a:rPr lang="en-US" sz="3000" b="1">
                <a:solidFill>
                  <a:srgbClr val="BC3A41"/>
                </a:solidFill>
                <a:latin typeface="DM Sans Bold"/>
                <a:ea typeface="DM Sans Bold"/>
                <a:cs typeface="DM Sans Bold"/>
                <a:sym typeface="DM Sans Bold"/>
              </a:rPr>
              <a:t>diversifies </a:t>
            </a:r>
            <a:r>
              <a:rPr lang="en-US" sz="3000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its content by </a:t>
            </a:r>
            <a:r>
              <a:rPr lang="en-US" sz="3000" b="1">
                <a:solidFill>
                  <a:srgbClr val="BC3A41"/>
                </a:solidFill>
                <a:latin typeface="DM Sans Bold"/>
                <a:ea typeface="DM Sans Bold"/>
                <a:cs typeface="DM Sans Bold"/>
                <a:sym typeface="DM Sans Bold"/>
              </a:rPr>
              <a:t>type </a:t>
            </a:r>
            <a:r>
              <a:rPr lang="en-US" sz="3000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and </a:t>
            </a:r>
            <a:r>
              <a:rPr lang="en-US" sz="3000" b="1">
                <a:solidFill>
                  <a:srgbClr val="BC3A41"/>
                </a:solidFill>
                <a:latin typeface="DM Sans Bold"/>
                <a:ea typeface="DM Sans Bold"/>
                <a:cs typeface="DM Sans Bold"/>
                <a:sym typeface="DM Sans Bold"/>
              </a:rPr>
              <a:t>genre</a:t>
            </a:r>
            <a:r>
              <a:rPr lang="en-US" sz="3000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</a:p>
          <a:p>
            <a:pPr algn="l">
              <a:lnSpc>
                <a:spcPts val="4140"/>
              </a:lnSpc>
            </a:pPr>
            <a:endParaRPr lang="en-US" sz="3000">
              <a:solidFill>
                <a:srgbClr val="FEFCF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267608" y="4680093"/>
            <a:ext cx="13386150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Which platforms have </a:t>
            </a:r>
            <a:r>
              <a:rPr lang="en-US" sz="3000" b="1">
                <a:solidFill>
                  <a:srgbClr val="BC3A41"/>
                </a:solidFill>
                <a:latin typeface="DM Sans Bold"/>
                <a:ea typeface="DM Sans Bold"/>
                <a:cs typeface="DM Sans Bold"/>
                <a:sym typeface="DM Sans Bold"/>
              </a:rPr>
              <a:t>similar</a:t>
            </a:r>
            <a:r>
              <a:rPr lang="en-US" sz="3000" b="1">
                <a:solidFill>
                  <a:srgbClr val="BF000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and/or</a:t>
            </a:r>
            <a:r>
              <a:rPr lang="en-US" sz="3000" b="1">
                <a:solidFill>
                  <a:srgbClr val="BF000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3000" b="1">
                <a:solidFill>
                  <a:srgbClr val="BC3A41"/>
                </a:solidFill>
                <a:latin typeface="DM Sans Bold"/>
                <a:ea typeface="DM Sans Bold"/>
                <a:cs typeface="DM Sans Bold"/>
                <a:sym typeface="DM Sans Bold"/>
              </a:rPr>
              <a:t>missing </a:t>
            </a:r>
            <a:r>
              <a:rPr lang="en-US" sz="3000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popular content? 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52854" y="8445318"/>
            <a:ext cx="13386150" cy="1036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What each group of </a:t>
            </a:r>
            <a:r>
              <a:rPr lang="en-US" sz="3000" b="1">
                <a:solidFill>
                  <a:srgbClr val="BC3A41"/>
                </a:solidFill>
                <a:latin typeface="DM Sans Bold"/>
                <a:ea typeface="DM Sans Bold"/>
                <a:cs typeface="DM Sans Bold"/>
                <a:sym typeface="DM Sans Bold"/>
              </a:rPr>
              <a:t>countries</a:t>
            </a:r>
            <a:r>
              <a:rPr lang="en-US" sz="3000" b="1">
                <a:solidFill>
                  <a:srgbClr val="BF0000"/>
                </a:solidFill>
                <a:latin typeface="DM Sans Bold"/>
                <a:ea typeface="DM Sans Bold"/>
                <a:cs typeface="DM Sans Bold"/>
                <a:sym typeface="DM Sans Bold"/>
              </a:rPr>
              <a:t>’</a:t>
            </a:r>
            <a:r>
              <a:rPr lang="en-US" sz="3000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 preferred </a:t>
            </a:r>
            <a:r>
              <a:rPr lang="en-US" sz="3000" b="1">
                <a:solidFill>
                  <a:srgbClr val="BC3A41"/>
                </a:solidFill>
                <a:latin typeface="DM Sans Bold"/>
                <a:ea typeface="DM Sans Bold"/>
                <a:cs typeface="DM Sans Bold"/>
                <a:sym typeface="DM Sans Bold"/>
              </a:rPr>
              <a:t>platform</a:t>
            </a:r>
            <a:r>
              <a:rPr lang="en-US" sz="3000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3000" b="1">
                <a:solidFill>
                  <a:srgbClr val="BC3A41"/>
                </a:solidFill>
                <a:latin typeface="DM Sans Bold"/>
                <a:ea typeface="DM Sans Bold"/>
                <a:cs typeface="DM Sans Bold"/>
                <a:sym typeface="DM Sans Bold"/>
              </a:rPr>
              <a:t>type</a:t>
            </a:r>
            <a:r>
              <a:rPr lang="en-US" sz="3000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3000" b="1">
                <a:solidFill>
                  <a:srgbClr val="BC3A41"/>
                </a:solidFill>
                <a:latin typeface="DM Sans Bold"/>
                <a:ea typeface="DM Sans Bold"/>
                <a:cs typeface="DM Sans Bold"/>
                <a:sym typeface="DM Sans Bold"/>
              </a:rPr>
              <a:t>genre </a:t>
            </a:r>
            <a:r>
              <a:rPr lang="en-US" sz="3000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and</a:t>
            </a:r>
            <a:r>
              <a:rPr lang="en-US" sz="3000" b="1">
                <a:solidFill>
                  <a:srgbClr val="BF000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3000" b="1">
                <a:solidFill>
                  <a:srgbClr val="BC3A41"/>
                </a:solidFill>
                <a:latin typeface="DM Sans Bold"/>
                <a:ea typeface="DM Sans Bold"/>
                <a:cs typeface="DM Sans Bold"/>
                <a:sym typeface="DM Sans Bold"/>
              </a:rPr>
              <a:t>release years</a:t>
            </a:r>
            <a:r>
              <a:rPr lang="en-US" sz="30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5710148"/>
            <a:ext cx="1017150" cy="72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>
                <a:solidFill>
                  <a:srgbClr val="BDB69D"/>
                </a:solidFill>
                <a:latin typeface="Heebo Bold"/>
                <a:ea typeface="Heebo Bold"/>
                <a:cs typeface="Heebo Bold"/>
                <a:sym typeface="Heebo Bold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8228" y="3931950"/>
            <a:ext cx="1017150" cy="72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>
                <a:solidFill>
                  <a:srgbClr val="BDB69D"/>
                </a:solidFill>
                <a:latin typeface="Heebo Bold"/>
                <a:ea typeface="Heebo Bold"/>
                <a:cs typeface="Heebo Bold"/>
                <a:sym typeface="Heebo Bold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8228" y="7983189"/>
            <a:ext cx="1017150" cy="72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>
                <a:solidFill>
                  <a:srgbClr val="BDB69D"/>
                </a:solidFill>
                <a:latin typeface="Heebo Bold"/>
                <a:ea typeface="Heebo Bold"/>
                <a:cs typeface="Heebo Bold"/>
                <a:sym typeface="Heebo Bold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67608" y="5736625"/>
            <a:ext cx="13386150" cy="536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 b="1">
                <a:solidFill>
                  <a:srgbClr val="BDB69D"/>
                </a:solidFill>
                <a:latin typeface="Heebo Bold"/>
                <a:ea typeface="Heebo Bold"/>
                <a:cs typeface="Heebo Bold"/>
                <a:sym typeface="Heebo Bold"/>
              </a:rPr>
              <a:t>Content Freshness 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921250" y="4044353"/>
            <a:ext cx="3618600" cy="6496550"/>
          </a:xfrm>
          <a:custGeom>
            <a:avLst/>
            <a:gdLst/>
            <a:ahLst/>
            <a:cxnLst/>
            <a:rect l="l" t="t" r="r" b="b"/>
            <a:pathLst>
              <a:path w="3618600" h="6496550">
                <a:moveTo>
                  <a:pt x="0" y="0"/>
                </a:moveTo>
                <a:lnTo>
                  <a:pt x="3618600" y="0"/>
                </a:lnTo>
                <a:lnTo>
                  <a:pt x="3618600" y="6496550"/>
                </a:lnTo>
                <a:lnTo>
                  <a:pt x="0" y="6496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095" y="-5888"/>
            <a:ext cx="182880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415014">
            <a:off x="-3246703" y="6341406"/>
            <a:ext cx="5007970" cy="4139862"/>
          </a:xfrm>
          <a:custGeom>
            <a:avLst/>
            <a:gdLst/>
            <a:ahLst/>
            <a:cxnLst/>
            <a:rect l="l" t="t" r="r" b="b"/>
            <a:pathLst>
              <a:path w="5007970" h="4139862">
                <a:moveTo>
                  <a:pt x="0" y="0"/>
                </a:moveTo>
                <a:lnTo>
                  <a:pt x="5007970" y="0"/>
                </a:lnTo>
                <a:lnTo>
                  <a:pt x="5007970" y="4139862"/>
                </a:lnTo>
                <a:lnTo>
                  <a:pt x="0" y="4139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5904432" y="-1077973"/>
            <a:ext cx="5007964" cy="4139868"/>
          </a:xfrm>
          <a:custGeom>
            <a:avLst/>
            <a:gdLst/>
            <a:ahLst/>
            <a:cxnLst/>
            <a:rect l="l" t="t" r="r" b="b"/>
            <a:pathLst>
              <a:path w="5007964" h="4139868">
                <a:moveTo>
                  <a:pt x="0" y="0"/>
                </a:moveTo>
                <a:lnTo>
                  <a:pt x="5007964" y="0"/>
                </a:lnTo>
                <a:lnTo>
                  <a:pt x="5007964" y="4139868"/>
                </a:lnTo>
                <a:lnTo>
                  <a:pt x="0" y="4139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1735" y="1125264"/>
            <a:ext cx="7469357" cy="836921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050462" y="471468"/>
            <a:ext cx="14644983" cy="65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81"/>
              </a:lnSpc>
            </a:pPr>
            <a:r>
              <a:rPr lang="en-US" sz="3899" b="1" dirty="0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Content Type Distribution Across Streaming Platforms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8844" y="5841817"/>
            <a:ext cx="2940220" cy="312687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39897" y="2626644"/>
            <a:ext cx="3224496" cy="2750308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8109" y="2378828"/>
            <a:ext cx="4069847" cy="5238692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80280" y="1847833"/>
            <a:ext cx="2940220" cy="2928267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09832" y="5667787"/>
            <a:ext cx="3409670" cy="2750308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7543800" y="7483789"/>
            <a:ext cx="3664985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13"/>
              </a:lnSpc>
            </a:pPr>
            <a:r>
              <a:rPr lang="en-US" sz="2763" b="1" dirty="0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Amazon Prime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25688" y="8852230"/>
            <a:ext cx="1681341" cy="46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3"/>
              </a:lnSpc>
            </a:pPr>
            <a:r>
              <a:rPr lang="en-US" sz="2763" b="1" dirty="0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Apple TV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14742" y="5157969"/>
            <a:ext cx="2274806" cy="46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3"/>
              </a:lnSpc>
            </a:pPr>
            <a:r>
              <a:rPr lang="en-US" sz="2400" b="1" dirty="0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HBO Max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278125" y="8299178"/>
            <a:ext cx="972316" cy="46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3"/>
              </a:lnSpc>
            </a:pPr>
            <a:r>
              <a:rPr lang="en-US" sz="2763" b="1" dirty="0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Hulu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98717" y="4872449"/>
            <a:ext cx="1552617" cy="46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3"/>
              </a:lnSpc>
            </a:pPr>
            <a:r>
              <a:rPr lang="en-US" sz="2763" b="1" dirty="0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Netflix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662226" y="9087354"/>
            <a:ext cx="10218453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400" b="1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82% </a:t>
            </a:r>
            <a:r>
              <a:rPr lang="en-US" sz="3400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of the whole media content is </a:t>
            </a:r>
            <a:r>
              <a:rPr lang="en-US" sz="3400" b="1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MOVIES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0556E-6 -3.7037E-6 L -0.25 -3.7037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7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" y="-72049"/>
            <a:ext cx="182880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6635314" y="-707171"/>
            <a:ext cx="5007964" cy="4139868"/>
          </a:xfrm>
          <a:custGeom>
            <a:avLst/>
            <a:gdLst/>
            <a:ahLst/>
            <a:cxnLst/>
            <a:rect l="l" t="t" r="r" b="b"/>
            <a:pathLst>
              <a:path w="5007964" h="4139868">
                <a:moveTo>
                  <a:pt x="0" y="0"/>
                </a:moveTo>
                <a:lnTo>
                  <a:pt x="5007964" y="0"/>
                </a:lnTo>
                <a:lnTo>
                  <a:pt x="5007964" y="4139868"/>
                </a:lnTo>
                <a:lnTo>
                  <a:pt x="0" y="4139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48235" y="2019300"/>
            <a:ext cx="9991165" cy="7421621"/>
          </a:xfrm>
          <a:custGeom>
            <a:avLst/>
            <a:gdLst/>
            <a:ahLst/>
            <a:cxnLst/>
            <a:rect l="l" t="t" r="r" b="b"/>
            <a:pathLst>
              <a:path w="9267960" h="5734550">
                <a:moveTo>
                  <a:pt x="0" y="0"/>
                </a:moveTo>
                <a:lnTo>
                  <a:pt x="9267960" y="0"/>
                </a:lnTo>
                <a:lnTo>
                  <a:pt x="9267960" y="5734550"/>
                </a:lnTo>
                <a:lnTo>
                  <a:pt x="0" y="5734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1" r="-1171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57200" y="846079"/>
            <a:ext cx="16916400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381"/>
              </a:lnSpc>
            </a:pPr>
            <a:r>
              <a:rPr lang="en-US" sz="4200" b="1" dirty="0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The turnout on TV was higher than movies for the Top 5 genres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57865" y="3610557"/>
            <a:ext cx="7581900" cy="5668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2800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 Comparison of the average ratings between TV shows and movies across the top 5 most popular genres.</a:t>
            </a:r>
          </a:p>
          <a:p>
            <a:pPr marL="269874" lvl="1" algn="l">
              <a:lnSpc>
                <a:spcPts val="3449"/>
              </a:lnSpc>
            </a:pPr>
            <a:endParaRPr lang="en-US" sz="2800" dirty="0">
              <a:solidFill>
                <a:srgbClr val="FEFCF6"/>
              </a:solidFill>
              <a:latin typeface="Heebo"/>
              <a:ea typeface="Heebo"/>
              <a:cs typeface="Heebo"/>
              <a:sym typeface="Heebo"/>
            </a:endParaRP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2800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In every single genre, TV shows had higher average ratings than movies.</a:t>
            </a:r>
          </a:p>
          <a:p>
            <a:pPr marL="1079499" lvl="2" indent="-359833" algn="l">
              <a:lnSpc>
                <a:spcPts val="3449"/>
              </a:lnSpc>
              <a:buFont typeface="Arial"/>
              <a:buChar char="⚬"/>
            </a:pPr>
            <a:r>
              <a:rPr lang="en-US" sz="2800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In Comedy-Drama, TV shows average around </a:t>
            </a:r>
            <a:r>
              <a:rPr lang="en-US" sz="2800" b="1" dirty="0">
                <a:solidFill>
                  <a:srgbClr val="CF1B2B"/>
                </a:solidFill>
                <a:latin typeface="Heebo Bold"/>
                <a:ea typeface="Heebo Bold"/>
                <a:cs typeface="Heebo Bold"/>
                <a:sym typeface="Heebo Bold"/>
              </a:rPr>
              <a:t>7.3</a:t>
            </a:r>
            <a:r>
              <a:rPr lang="en-US" sz="2800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, while movies are closer to </a:t>
            </a:r>
            <a:r>
              <a:rPr lang="en-US" sz="2800" b="1" dirty="0">
                <a:solidFill>
                  <a:srgbClr val="CF1B2B"/>
                </a:solidFill>
                <a:latin typeface="Heebo Bold"/>
                <a:ea typeface="Heebo Bold"/>
                <a:cs typeface="Heebo Bold"/>
                <a:sym typeface="Heebo Bold"/>
              </a:rPr>
              <a:t>6.3</a:t>
            </a:r>
            <a:r>
              <a:rPr lang="en-US" sz="2800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</a:p>
          <a:p>
            <a:pPr marL="1079499" lvl="2" indent="-359833" algn="l">
              <a:lnSpc>
                <a:spcPts val="3449"/>
              </a:lnSpc>
              <a:buFont typeface="Arial"/>
              <a:buChar char="⚬"/>
            </a:pPr>
            <a:r>
              <a:rPr lang="en-US" sz="2800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In Documentaries, TV shows are rated about </a:t>
            </a:r>
            <a:r>
              <a:rPr lang="en-US" sz="2800" b="1" dirty="0">
                <a:solidFill>
                  <a:srgbClr val="CF1B2B"/>
                </a:solidFill>
                <a:latin typeface="Heebo Bold"/>
                <a:ea typeface="Heebo Bold"/>
                <a:cs typeface="Heebo Bold"/>
                <a:sym typeface="Heebo Bold"/>
              </a:rPr>
              <a:t>7.5</a:t>
            </a:r>
            <a:r>
              <a:rPr lang="en-US" sz="2800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, versus </a:t>
            </a:r>
            <a:r>
              <a:rPr lang="en-US" sz="2800" b="1" dirty="0">
                <a:solidFill>
                  <a:srgbClr val="CF1B2B"/>
                </a:solidFill>
                <a:latin typeface="Heebo Bold"/>
                <a:ea typeface="Heebo Bold"/>
                <a:cs typeface="Heebo Bold"/>
                <a:sym typeface="Heebo Bold"/>
              </a:rPr>
              <a:t>6.9</a:t>
            </a:r>
            <a:r>
              <a:rPr lang="en-US" sz="2800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 for movies.</a:t>
            </a:r>
          </a:p>
          <a:p>
            <a:pPr marL="719666" lvl="2" algn="l">
              <a:lnSpc>
                <a:spcPts val="3449"/>
              </a:lnSpc>
            </a:pPr>
            <a:endParaRPr lang="en-US" sz="2800" dirty="0">
              <a:solidFill>
                <a:srgbClr val="FEFCF6"/>
              </a:solidFill>
              <a:latin typeface="Heebo"/>
              <a:ea typeface="Heebo"/>
              <a:cs typeface="Heebo"/>
              <a:sym typeface="Heebo"/>
            </a:endParaRPr>
          </a:p>
          <a:p>
            <a:pPr algn="l">
              <a:lnSpc>
                <a:spcPts val="3449"/>
              </a:lnSpc>
            </a:pPr>
            <a:endParaRPr lang="en-US" sz="2800" dirty="0">
              <a:solidFill>
                <a:srgbClr val="FEFCF6"/>
              </a:solidFill>
              <a:latin typeface="Heebo"/>
              <a:ea typeface="Heebo"/>
              <a:cs typeface="Heebo"/>
              <a:sym typeface="Heeb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4121178">
            <a:off x="-2971409" y="81327"/>
            <a:ext cx="5007958" cy="4139872"/>
          </a:xfrm>
          <a:custGeom>
            <a:avLst/>
            <a:gdLst/>
            <a:ahLst/>
            <a:cxnLst/>
            <a:rect l="l" t="t" r="r" b="b"/>
            <a:pathLst>
              <a:path w="5007958" h="4139872">
                <a:moveTo>
                  <a:pt x="0" y="0"/>
                </a:moveTo>
                <a:lnTo>
                  <a:pt x="5007958" y="0"/>
                </a:lnTo>
                <a:lnTo>
                  <a:pt x="5007958" y="4139873"/>
                </a:lnTo>
                <a:lnTo>
                  <a:pt x="0" y="4139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921250" y="-941588"/>
            <a:ext cx="3146502" cy="3092852"/>
          </a:xfrm>
          <a:custGeom>
            <a:avLst/>
            <a:gdLst/>
            <a:ahLst/>
            <a:cxnLst/>
            <a:rect l="l" t="t" r="r" b="b"/>
            <a:pathLst>
              <a:path w="3146502" h="3092852">
                <a:moveTo>
                  <a:pt x="0" y="0"/>
                </a:moveTo>
                <a:lnTo>
                  <a:pt x="3146502" y="0"/>
                </a:lnTo>
                <a:lnTo>
                  <a:pt x="3146502" y="3092851"/>
                </a:lnTo>
                <a:lnTo>
                  <a:pt x="0" y="30928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4953445" flipH="1">
            <a:off x="6004731" y="3005339"/>
            <a:ext cx="1147481" cy="3599941"/>
          </a:xfrm>
          <a:custGeom>
            <a:avLst/>
            <a:gdLst/>
            <a:ahLst/>
            <a:cxnLst/>
            <a:rect l="l" t="t" r="r" b="b"/>
            <a:pathLst>
              <a:path w="1147481" h="3599941">
                <a:moveTo>
                  <a:pt x="1147481" y="0"/>
                </a:moveTo>
                <a:lnTo>
                  <a:pt x="0" y="0"/>
                </a:lnTo>
                <a:lnTo>
                  <a:pt x="0" y="3599941"/>
                </a:lnTo>
                <a:lnTo>
                  <a:pt x="1147481" y="3599941"/>
                </a:lnTo>
                <a:lnTo>
                  <a:pt x="114748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011608" y="4389312"/>
            <a:ext cx="1546228" cy="1694075"/>
          </a:xfrm>
          <a:custGeom>
            <a:avLst/>
            <a:gdLst/>
            <a:ahLst/>
            <a:cxnLst/>
            <a:rect l="l" t="t" r="r" b="b"/>
            <a:pathLst>
              <a:path w="1546228" h="1694075">
                <a:moveTo>
                  <a:pt x="0" y="0"/>
                </a:moveTo>
                <a:lnTo>
                  <a:pt x="1546228" y="0"/>
                </a:lnTo>
                <a:lnTo>
                  <a:pt x="1546228" y="1694075"/>
                </a:lnTo>
                <a:lnTo>
                  <a:pt x="0" y="16940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332686" y="1019175"/>
            <a:ext cx="1522515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1" dirty="0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Pricing Strategy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2686" y="2988265"/>
            <a:ext cx="4782303" cy="1062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8"/>
              </a:lnSpc>
            </a:pPr>
            <a:r>
              <a:rPr lang="en-US" sz="3100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The number of available series is very limited.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12283" y="2988265"/>
            <a:ext cx="4782303" cy="1062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8"/>
              </a:lnSpc>
            </a:pPr>
            <a:r>
              <a:rPr lang="en-US" sz="3100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But they have the highest average ratings.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93994" y="5706499"/>
            <a:ext cx="6700593" cy="1605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8"/>
              </a:lnSpc>
            </a:pPr>
            <a:r>
              <a:rPr lang="en-US" sz="3100" b="1">
                <a:solidFill>
                  <a:srgbClr val="E6B5BA"/>
                </a:solidFill>
                <a:latin typeface="Heebo Bold"/>
                <a:ea typeface="Heebo Bold"/>
                <a:cs typeface="Heebo Bold"/>
                <a:sym typeface="Heebo Bold"/>
              </a:rPr>
              <a:t>Therefore, we recommend increasing the number of series, either through purchasing or original production.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1691" y="7652766"/>
            <a:ext cx="4782303" cy="1605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8"/>
              </a:lnSpc>
            </a:pPr>
            <a:r>
              <a:rPr lang="en-US" sz="3100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   Focus on top 5 genres (e.g., Documentary, Drama, Comedy).</a:t>
            </a:r>
          </a:p>
        </p:txBody>
      </p:sp>
      <p:sp>
        <p:nvSpPr>
          <p:cNvPr id="12" name="Freeform 12"/>
          <p:cNvSpPr/>
          <p:nvPr/>
        </p:nvSpPr>
        <p:spPr>
          <a:xfrm rot="3756507">
            <a:off x="6326788" y="6766838"/>
            <a:ext cx="1091724" cy="3425015"/>
          </a:xfrm>
          <a:custGeom>
            <a:avLst/>
            <a:gdLst/>
            <a:ahLst/>
            <a:cxnLst/>
            <a:rect l="l" t="t" r="r" b="b"/>
            <a:pathLst>
              <a:path w="1091724" h="3425015">
                <a:moveTo>
                  <a:pt x="0" y="0"/>
                </a:moveTo>
                <a:lnTo>
                  <a:pt x="1091723" y="0"/>
                </a:lnTo>
                <a:lnTo>
                  <a:pt x="1091723" y="3425015"/>
                </a:lnTo>
                <a:lnTo>
                  <a:pt x="0" y="34250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4039037" flipH="1">
            <a:off x="12457592" y="6314123"/>
            <a:ext cx="1147481" cy="3599941"/>
          </a:xfrm>
          <a:custGeom>
            <a:avLst/>
            <a:gdLst/>
            <a:ahLst/>
            <a:cxnLst/>
            <a:rect l="l" t="t" r="r" b="b"/>
            <a:pathLst>
              <a:path w="1147481" h="3599941">
                <a:moveTo>
                  <a:pt x="1147481" y="0"/>
                </a:moveTo>
                <a:lnTo>
                  <a:pt x="0" y="0"/>
                </a:lnTo>
                <a:lnTo>
                  <a:pt x="0" y="3599941"/>
                </a:lnTo>
                <a:lnTo>
                  <a:pt x="1147481" y="3599941"/>
                </a:lnTo>
                <a:lnTo>
                  <a:pt x="114748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3184246" y="6398141"/>
            <a:ext cx="4782303" cy="1560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000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Based on a defined budget, expected subscriptions, and economic feasibility.</a:t>
            </a:r>
          </a:p>
        </p:txBody>
      </p:sp>
      <p:sp>
        <p:nvSpPr>
          <p:cNvPr id="15" name="Freeform 15"/>
          <p:cNvSpPr/>
          <p:nvPr/>
        </p:nvSpPr>
        <p:spPr>
          <a:xfrm rot="4211844">
            <a:off x="10844607" y="4158506"/>
            <a:ext cx="2913022" cy="828366"/>
          </a:xfrm>
          <a:custGeom>
            <a:avLst/>
            <a:gdLst/>
            <a:ahLst/>
            <a:cxnLst/>
            <a:rect l="l" t="t" r="r" b="b"/>
            <a:pathLst>
              <a:path w="2913022" h="828366">
                <a:moveTo>
                  <a:pt x="0" y="0"/>
                </a:moveTo>
                <a:lnTo>
                  <a:pt x="2913022" y="0"/>
                </a:lnTo>
                <a:lnTo>
                  <a:pt x="2913022" y="828366"/>
                </a:lnTo>
                <a:lnTo>
                  <a:pt x="0" y="8283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053" y="0"/>
            <a:ext cx="18240174" cy="10382224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-10800000">
            <a:off x="15894913" y="-1401623"/>
            <a:ext cx="5007964" cy="4139868"/>
          </a:xfrm>
          <a:custGeom>
            <a:avLst/>
            <a:gdLst/>
            <a:ahLst/>
            <a:cxnLst/>
            <a:rect l="l" t="t" r="r" b="b"/>
            <a:pathLst>
              <a:path w="5007964" h="4139868">
                <a:moveTo>
                  <a:pt x="0" y="0"/>
                </a:moveTo>
                <a:lnTo>
                  <a:pt x="5007964" y="0"/>
                </a:lnTo>
                <a:lnTo>
                  <a:pt x="5007964" y="4139868"/>
                </a:lnTo>
                <a:lnTo>
                  <a:pt x="0" y="4139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66780" y="2643956"/>
            <a:ext cx="10334044" cy="6604393"/>
          </a:xfrm>
          <a:custGeom>
            <a:avLst/>
            <a:gdLst/>
            <a:ahLst/>
            <a:cxnLst/>
            <a:rect l="l" t="t" r="r" b="b"/>
            <a:pathLst>
              <a:path w="12225770" h="6250251">
                <a:moveTo>
                  <a:pt x="0" y="0"/>
                </a:moveTo>
                <a:lnTo>
                  <a:pt x="12225770" y="0"/>
                </a:lnTo>
                <a:lnTo>
                  <a:pt x="12225770" y="6250252"/>
                </a:lnTo>
                <a:lnTo>
                  <a:pt x="0" y="62502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-606" r="-16595" b="-1840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5" name="Group 5"/>
          <p:cNvGrpSpPr/>
          <p:nvPr/>
        </p:nvGrpSpPr>
        <p:grpSpPr>
          <a:xfrm>
            <a:off x="11530200" y="4547246"/>
            <a:ext cx="544820" cy="504600"/>
            <a:chOff x="0" y="0"/>
            <a:chExt cx="672800" cy="67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72846" cy="672846"/>
            </a:xfrm>
            <a:custGeom>
              <a:avLst/>
              <a:gdLst/>
              <a:ahLst/>
              <a:cxnLst/>
              <a:rect l="l" t="t" r="r" b="b"/>
              <a:pathLst>
                <a:path w="672846" h="672846">
                  <a:moveTo>
                    <a:pt x="0" y="336423"/>
                  </a:moveTo>
                  <a:cubicBezTo>
                    <a:pt x="0" y="150622"/>
                    <a:pt x="150622" y="0"/>
                    <a:pt x="336423" y="0"/>
                  </a:cubicBezTo>
                  <a:cubicBezTo>
                    <a:pt x="522224" y="0"/>
                    <a:pt x="672846" y="150622"/>
                    <a:pt x="672846" y="336423"/>
                  </a:cubicBezTo>
                  <a:cubicBezTo>
                    <a:pt x="672846" y="522224"/>
                    <a:pt x="522224" y="672846"/>
                    <a:pt x="336423" y="672846"/>
                  </a:cubicBezTo>
                  <a:cubicBezTo>
                    <a:pt x="150622" y="672846"/>
                    <a:pt x="0" y="522224"/>
                    <a:pt x="0" y="336423"/>
                  </a:cubicBezTo>
                  <a:close/>
                </a:path>
              </a:pathLst>
            </a:custGeom>
            <a:solidFill>
              <a:srgbClr val="8D736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528638" y="6009231"/>
            <a:ext cx="544820" cy="504600"/>
            <a:chOff x="0" y="0"/>
            <a:chExt cx="672800" cy="67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72846" cy="672846"/>
            </a:xfrm>
            <a:custGeom>
              <a:avLst/>
              <a:gdLst/>
              <a:ahLst/>
              <a:cxnLst/>
              <a:rect l="l" t="t" r="r" b="b"/>
              <a:pathLst>
                <a:path w="672846" h="672846">
                  <a:moveTo>
                    <a:pt x="0" y="336423"/>
                  </a:moveTo>
                  <a:cubicBezTo>
                    <a:pt x="0" y="150622"/>
                    <a:pt x="150622" y="0"/>
                    <a:pt x="336423" y="0"/>
                  </a:cubicBezTo>
                  <a:cubicBezTo>
                    <a:pt x="522224" y="0"/>
                    <a:pt x="672846" y="150622"/>
                    <a:pt x="672846" y="336423"/>
                  </a:cubicBezTo>
                  <a:cubicBezTo>
                    <a:pt x="672846" y="522224"/>
                    <a:pt x="522224" y="672846"/>
                    <a:pt x="336423" y="672846"/>
                  </a:cubicBezTo>
                  <a:cubicBezTo>
                    <a:pt x="150622" y="672846"/>
                    <a:pt x="0" y="522224"/>
                    <a:pt x="0" y="336423"/>
                  </a:cubicBezTo>
                  <a:close/>
                </a:path>
              </a:pathLst>
            </a:custGeom>
            <a:solidFill>
              <a:srgbClr val="8D736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515721" y="7527949"/>
            <a:ext cx="544820" cy="504600"/>
            <a:chOff x="0" y="0"/>
            <a:chExt cx="672800" cy="67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2846" cy="672846"/>
            </a:xfrm>
            <a:custGeom>
              <a:avLst/>
              <a:gdLst/>
              <a:ahLst/>
              <a:cxnLst/>
              <a:rect l="l" t="t" r="r" b="b"/>
              <a:pathLst>
                <a:path w="672846" h="672846">
                  <a:moveTo>
                    <a:pt x="0" y="336423"/>
                  </a:moveTo>
                  <a:cubicBezTo>
                    <a:pt x="0" y="150622"/>
                    <a:pt x="150622" y="0"/>
                    <a:pt x="336423" y="0"/>
                  </a:cubicBezTo>
                  <a:cubicBezTo>
                    <a:pt x="522224" y="0"/>
                    <a:pt x="672846" y="150622"/>
                    <a:pt x="672846" y="336423"/>
                  </a:cubicBezTo>
                  <a:cubicBezTo>
                    <a:pt x="672846" y="522224"/>
                    <a:pt x="522224" y="672846"/>
                    <a:pt x="336423" y="672846"/>
                  </a:cubicBezTo>
                  <a:cubicBezTo>
                    <a:pt x="150622" y="672846"/>
                    <a:pt x="0" y="522224"/>
                    <a:pt x="0" y="336423"/>
                  </a:cubicBezTo>
                  <a:close/>
                </a:path>
              </a:pathLst>
            </a:custGeom>
            <a:solidFill>
              <a:srgbClr val="8D736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354539" y="4510695"/>
            <a:ext cx="5716411" cy="98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64"/>
              </a:lnSpc>
            </a:pPr>
            <a:r>
              <a:rPr lang="en-US" sz="2800" b="1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Netflix</a:t>
            </a:r>
            <a:r>
              <a:rPr lang="en-US" sz="2800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 and </a:t>
            </a:r>
            <a:r>
              <a:rPr lang="en-US" sz="2800" b="1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Apple</a:t>
            </a:r>
            <a:r>
              <a:rPr lang="en-US" sz="2800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 TV platforms offer nearly identical content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26947" y="6123708"/>
            <a:ext cx="5716411" cy="4828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 b="1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Content type </a:t>
            </a:r>
            <a:r>
              <a:rPr lang="en-US" sz="2799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(21% TV, 78% Movie)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06414" y="7548755"/>
            <a:ext cx="5716411" cy="948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700" b="1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Content volume </a:t>
            </a:r>
            <a:r>
              <a:rPr lang="en-US" sz="2700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(Apple: 15.7k | Netflix: 18.7K Netflix)</a:t>
            </a: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BBB3C419-51F4-64B2-5A44-A59C79F84092}"/>
              </a:ext>
            </a:extLst>
          </p:cNvPr>
          <p:cNvSpPr txBox="1"/>
          <p:nvPr/>
        </p:nvSpPr>
        <p:spPr>
          <a:xfrm>
            <a:off x="766780" y="658025"/>
            <a:ext cx="14644983" cy="669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81"/>
              </a:lnSpc>
            </a:pPr>
            <a:r>
              <a:rPr lang="en-US" sz="3899" b="1" dirty="0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Genre distribution  across platforms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C625D502-B24F-4C7C-BE05-059FEAE13559}"/>
              </a:ext>
            </a:extLst>
          </p:cNvPr>
          <p:cNvSpPr txBox="1"/>
          <p:nvPr/>
        </p:nvSpPr>
        <p:spPr>
          <a:xfrm>
            <a:off x="12354539" y="3167550"/>
            <a:ext cx="6369937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800" b="1" dirty="0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Drama and Comedy</a:t>
            </a:r>
            <a:r>
              <a:rPr lang="en-US" sz="2800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 dominate the streaming space.</a:t>
            </a:r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3B73AF80-997F-0DDA-8DAE-1C9A44E12BD9}"/>
              </a:ext>
            </a:extLst>
          </p:cNvPr>
          <p:cNvGrpSpPr/>
          <p:nvPr/>
        </p:nvGrpSpPr>
        <p:grpSpPr>
          <a:xfrm>
            <a:off x="11528638" y="3088820"/>
            <a:ext cx="544820" cy="504600"/>
            <a:chOff x="0" y="0"/>
            <a:chExt cx="672800" cy="672800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45862DB-3523-4B71-53F8-CCD4B543D4C3}"/>
                </a:ext>
              </a:extLst>
            </p:cNvPr>
            <p:cNvSpPr/>
            <p:nvPr/>
          </p:nvSpPr>
          <p:spPr>
            <a:xfrm>
              <a:off x="0" y="0"/>
              <a:ext cx="672846" cy="672846"/>
            </a:xfrm>
            <a:custGeom>
              <a:avLst/>
              <a:gdLst/>
              <a:ahLst/>
              <a:cxnLst/>
              <a:rect l="l" t="t" r="r" b="b"/>
              <a:pathLst>
                <a:path w="672846" h="672846">
                  <a:moveTo>
                    <a:pt x="0" y="336423"/>
                  </a:moveTo>
                  <a:cubicBezTo>
                    <a:pt x="0" y="150622"/>
                    <a:pt x="150622" y="0"/>
                    <a:pt x="336423" y="0"/>
                  </a:cubicBezTo>
                  <a:cubicBezTo>
                    <a:pt x="522224" y="0"/>
                    <a:pt x="672846" y="150622"/>
                    <a:pt x="672846" y="336423"/>
                  </a:cubicBezTo>
                  <a:cubicBezTo>
                    <a:pt x="672846" y="522224"/>
                    <a:pt x="522224" y="672846"/>
                    <a:pt x="336423" y="672846"/>
                  </a:cubicBezTo>
                  <a:cubicBezTo>
                    <a:pt x="150622" y="672846"/>
                    <a:pt x="0" y="522224"/>
                    <a:pt x="0" y="336423"/>
                  </a:cubicBezTo>
                  <a:close/>
                </a:path>
              </a:pathLst>
            </a:custGeom>
            <a:solidFill>
              <a:srgbClr val="8D736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5">
            <a:extLst>
              <a:ext uri="{FF2B5EF4-FFF2-40B4-BE49-F238E27FC236}">
                <a16:creationId xmlns:a16="http://schemas.microsoft.com/office/drawing/2014/main" id="{4705C031-9DB4-8F88-1F4A-4135F7463681}"/>
              </a:ext>
            </a:extLst>
          </p:cNvPr>
          <p:cNvSpPr txBox="1"/>
          <p:nvPr/>
        </p:nvSpPr>
        <p:spPr>
          <a:xfrm>
            <a:off x="799910" y="1502381"/>
            <a:ext cx="14644983" cy="669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81"/>
              </a:lnSpc>
            </a:pPr>
            <a:r>
              <a:rPr lang="en-US" sz="3500" b="1" dirty="0">
                <a:solidFill>
                  <a:srgbClr val="DA0000"/>
                </a:solidFill>
                <a:latin typeface="Heebo "/>
                <a:ea typeface="Heebo Bold"/>
                <a:cs typeface="Heebo Bold"/>
                <a:sym typeface="Heebo Bold"/>
              </a:rPr>
              <a:t>Redundancy Alert</a:t>
            </a:r>
            <a:r>
              <a:rPr lang="en-US" sz="3500" dirty="0">
                <a:solidFill>
                  <a:srgbClr val="FEFCF6"/>
                </a:solidFill>
                <a:latin typeface="Heebo "/>
                <a:ea typeface="Heebo Bold"/>
                <a:cs typeface="Heebo Bold"/>
                <a:sym typeface="Heebo Bold"/>
              </a:rPr>
              <a:t>: Netflix and Apple TV  overlap </a:t>
            </a:r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910D8BEE-24C3-5559-8E39-1551FA459357}"/>
              </a:ext>
            </a:extLst>
          </p:cNvPr>
          <p:cNvSpPr/>
          <p:nvPr/>
        </p:nvSpPr>
        <p:spPr>
          <a:xfrm>
            <a:off x="8319065" y="7152590"/>
            <a:ext cx="2989207" cy="2690286"/>
          </a:xfrm>
          <a:custGeom>
            <a:avLst/>
            <a:gdLst/>
            <a:ahLst/>
            <a:cxnLst/>
            <a:rect l="l" t="t" r="r" b="b"/>
            <a:pathLst>
              <a:path w="2989207" h="2690286">
                <a:moveTo>
                  <a:pt x="0" y="0"/>
                </a:moveTo>
                <a:lnTo>
                  <a:pt x="2989207" y="0"/>
                </a:lnTo>
                <a:lnTo>
                  <a:pt x="2989207" y="2690287"/>
                </a:lnTo>
                <a:lnTo>
                  <a:pt x="0" y="26902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62D5DCB7-A183-4C5E-0FF6-E8579749AD17}"/>
              </a:ext>
            </a:extLst>
          </p:cNvPr>
          <p:cNvSpPr/>
          <p:nvPr/>
        </p:nvSpPr>
        <p:spPr>
          <a:xfrm>
            <a:off x="3887408" y="2374710"/>
            <a:ext cx="2989207" cy="2690286"/>
          </a:xfrm>
          <a:custGeom>
            <a:avLst/>
            <a:gdLst/>
            <a:ahLst/>
            <a:cxnLst/>
            <a:rect l="l" t="t" r="r" b="b"/>
            <a:pathLst>
              <a:path w="2989207" h="2690286">
                <a:moveTo>
                  <a:pt x="0" y="0"/>
                </a:moveTo>
                <a:lnTo>
                  <a:pt x="2989207" y="0"/>
                </a:lnTo>
                <a:lnTo>
                  <a:pt x="2989207" y="2690287"/>
                </a:lnTo>
                <a:lnTo>
                  <a:pt x="0" y="26902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17">
            <a:extLst>
              <a:ext uri="{FF2B5EF4-FFF2-40B4-BE49-F238E27FC236}">
                <a16:creationId xmlns:a16="http://schemas.microsoft.com/office/drawing/2014/main" id="{0B706597-D4A5-DAE5-FD2A-C1424AA94744}"/>
              </a:ext>
            </a:extLst>
          </p:cNvPr>
          <p:cNvSpPr/>
          <p:nvPr/>
        </p:nvSpPr>
        <p:spPr>
          <a:xfrm>
            <a:off x="5826319" y="5342298"/>
            <a:ext cx="2989207" cy="2690286"/>
          </a:xfrm>
          <a:custGeom>
            <a:avLst/>
            <a:gdLst/>
            <a:ahLst/>
            <a:cxnLst/>
            <a:rect l="l" t="t" r="r" b="b"/>
            <a:pathLst>
              <a:path w="2989207" h="2690286">
                <a:moveTo>
                  <a:pt x="0" y="0"/>
                </a:moveTo>
                <a:lnTo>
                  <a:pt x="2989207" y="0"/>
                </a:lnTo>
                <a:lnTo>
                  <a:pt x="2989207" y="2690287"/>
                </a:lnTo>
                <a:lnTo>
                  <a:pt x="0" y="26902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6606" y="-2"/>
            <a:ext cx="183846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630392" flipH="1">
            <a:off x="15653152" y="7568550"/>
            <a:ext cx="3353896" cy="3090152"/>
          </a:xfrm>
          <a:custGeom>
            <a:avLst/>
            <a:gdLst/>
            <a:ahLst/>
            <a:cxnLst/>
            <a:rect l="l" t="t" r="r" b="b"/>
            <a:pathLst>
              <a:path w="3353896" h="3090152">
                <a:moveTo>
                  <a:pt x="3353896" y="0"/>
                </a:moveTo>
                <a:lnTo>
                  <a:pt x="0" y="0"/>
                </a:lnTo>
                <a:lnTo>
                  <a:pt x="0" y="3090152"/>
                </a:lnTo>
                <a:lnTo>
                  <a:pt x="3353896" y="3090152"/>
                </a:lnTo>
                <a:lnTo>
                  <a:pt x="3353896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2444432">
            <a:off x="14658712" y="-1634908"/>
            <a:ext cx="5007968" cy="4139864"/>
          </a:xfrm>
          <a:custGeom>
            <a:avLst/>
            <a:gdLst/>
            <a:ahLst/>
            <a:cxnLst/>
            <a:rect l="l" t="t" r="r" b="b"/>
            <a:pathLst>
              <a:path w="5007968" h="4139864">
                <a:moveTo>
                  <a:pt x="0" y="0"/>
                </a:moveTo>
                <a:lnTo>
                  <a:pt x="5007968" y="0"/>
                </a:lnTo>
                <a:lnTo>
                  <a:pt x="5007968" y="4139864"/>
                </a:lnTo>
                <a:lnTo>
                  <a:pt x="0" y="41398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780133" y="-628072"/>
            <a:ext cx="3146502" cy="3092852"/>
          </a:xfrm>
          <a:custGeom>
            <a:avLst/>
            <a:gdLst/>
            <a:ahLst/>
            <a:cxnLst/>
            <a:rect l="l" t="t" r="r" b="b"/>
            <a:pathLst>
              <a:path w="3146502" h="3092852">
                <a:moveTo>
                  <a:pt x="0" y="0"/>
                </a:moveTo>
                <a:lnTo>
                  <a:pt x="3146502" y="0"/>
                </a:lnTo>
                <a:lnTo>
                  <a:pt x="3146502" y="3092852"/>
                </a:lnTo>
                <a:lnTo>
                  <a:pt x="0" y="3092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0D3EAC-361B-F3D4-5B54-DECE519939FF}"/>
              </a:ext>
            </a:extLst>
          </p:cNvPr>
          <p:cNvSpPr txBox="1"/>
          <p:nvPr/>
        </p:nvSpPr>
        <p:spPr>
          <a:xfrm>
            <a:off x="1752600" y="2105352"/>
            <a:ext cx="16327272" cy="859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5599" b="1" dirty="0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 </a:t>
            </a:r>
            <a:r>
              <a:rPr lang="en-US" sz="3400" b="1" dirty="0">
                <a:solidFill>
                  <a:srgbClr val="FEFCF6"/>
                </a:solidFill>
                <a:latin typeface="Heebo "/>
                <a:ea typeface="Heebo Bold"/>
                <a:cs typeface="Heebo Bold"/>
                <a:sym typeface="Heebo Bold"/>
              </a:rPr>
              <a:t>Retain only one platform between Netflix and Apple TV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705859-AA6D-DC26-A860-71DBD64D606F}"/>
              </a:ext>
            </a:extLst>
          </p:cNvPr>
          <p:cNvSpPr txBox="1"/>
          <p:nvPr/>
        </p:nvSpPr>
        <p:spPr>
          <a:xfrm>
            <a:off x="3150233" y="3126893"/>
            <a:ext cx="11734800" cy="2478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3000" dirty="0">
                <a:solidFill>
                  <a:schemeClr val="bg1"/>
                </a:solidFill>
                <a:latin typeface="Heebo" pitchFamily="2" charset="-79"/>
                <a:ea typeface="Heebo Bold"/>
                <a:cs typeface="Heebo" pitchFamily="2" charset="-79"/>
                <a:sym typeface="Heebo Bold"/>
              </a:rPr>
              <a:t>WHY? </a:t>
            </a:r>
          </a:p>
          <a:p>
            <a:pPr marL="685800" indent="-685800">
              <a:lnSpc>
                <a:spcPts val="6719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Heebo" pitchFamily="2" charset="-79"/>
                <a:ea typeface="Heebo Bold"/>
                <a:cs typeface="Heebo" pitchFamily="2" charset="-79"/>
                <a:sym typeface="Heebo Bold"/>
              </a:rPr>
              <a:t>To eliminate redundant content</a:t>
            </a:r>
          </a:p>
          <a:p>
            <a:pPr marL="685800" indent="-685800">
              <a:lnSpc>
                <a:spcPts val="6719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Reduce licensing and platform costs</a:t>
            </a:r>
            <a:endParaRPr lang="en-US" sz="3000" dirty="0">
              <a:solidFill>
                <a:schemeClr val="bg1"/>
              </a:solidFill>
              <a:latin typeface="Heebo" pitchFamily="2" charset="-79"/>
              <a:ea typeface="Heebo Bold"/>
              <a:cs typeface="Heebo" pitchFamily="2" charset="-79"/>
              <a:sym typeface="Heebo 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7FF87D-84FA-3944-015D-A5409C96BE3D}"/>
              </a:ext>
            </a:extLst>
          </p:cNvPr>
          <p:cNvSpPr txBox="1"/>
          <p:nvPr/>
        </p:nvSpPr>
        <p:spPr>
          <a:xfrm>
            <a:off x="3139347" y="6049545"/>
            <a:ext cx="11734800" cy="2478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3000" dirty="0">
                <a:solidFill>
                  <a:schemeClr val="bg1"/>
                </a:solidFill>
                <a:latin typeface="Heebo" pitchFamily="2" charset="-79"/>
                <a:ea typeface="Heebo Bold"/>
                <a:cs typeface="Heebo" pitchFamily="2" charset="-79"/>
                <a:sym typeface="Heebo Bold"/>
              </a:rPr>
              <a:t>HOW? </a:t>
            </a:r>
          </a:p>
          <a:p>
            <a:pPr marL="685800" indent="-685800">
              <a:lnSpc>
                <a:spcPts val="6719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Heebo" pitchFamily="2" charset="-79"/>
                <a:ea typeface="Heebo Bold"/>
                <a:cs typeface="Heebo" pitchFamily="2" charset="-79"/>
                <a:sym typeface="Heebo Bold"/>
              </a:rPr>
              <a:t>Compare user preference, exclusive content, and cost-efficiency  </a:t>
            </a:r>
          </a:p>
          <a:p>
            <a:pPr marL="685800" indent="-685800">
              <a:lnSpc>
                <a:spcPts val="6719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Select the platform with better strategic value. </a:t>
            </a:r>
            <a:endParaRPr lang="en-US" sz="3000" dirty="0">
              <a:solidFill>
                <a:schemeClr val="bg1"/>
              </a:solidFill>
              <a:latin typeface="Heebo" pitchFamily="2" charset="-79"/>
              <a:ea typeface="Heebo Bold"/>
              <a:cs typeface="Heebo" pitchFamily="2" charset="-79"/>
              <a:sym typeface="Heebo Bold"/>
            </a:endParaRPr>
          </a:p>
        </p:txBody>
      </p:sp>
      <p:pic>
        <p:nvPicPr>
          <p:cNvPr id="29" name="Picture 28" descr="A red sign with question marks&#10;&#10;AI-generated content may be incorrect.">
            <a:extLst>
              <a:ext uri="{FF2B5EF4-FFF2-40B4-BE49-F238E27FC236}">
                <a16:creationId xmlns:a16="http://schemas.microsoft.com/office/drawing/2014/main" id="{5C0EB720-0C58-308B-2DCD-9C26939A19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814" y="6168809"/>
            <a:ext cx="1266333" cy="1266333"/>
          </a:xfrm>
          <a:prstGeom prst="rect">
            <a:avLst/>
          </a:prstGeom>
        </p:spPr>
      </p:pic>
      <p:pic>
        <p:nvPicPr>
          <p:cNvPr id="31" name="Picture 30" descr="A person with a question mark and speech bubble&#10;&#10;AI-generated content may be incorrect.">
            <a:extLst>
              <a:ext uri="{FF2B5EF4-FFF2-40B4-BE49-F238E27FC236}">
                <a16:creationId xmlns:a16="http://schemas.microsoft.com/office/drawing/2014/main" id="{0B31C5CB-49DC-B05D-1C9A-776D947E50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699" y="3316952"/>
            <a:ext cx="1266334" cy="12663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D20059-CC39-D0BA-F4E8-9034AF0AC30C}"/>
              </a:ext>
            </a:extLst>
          </p:cNvPr>
          <p:cNvSpPr txBox="1"/>
          <p:nvPr/>
        </p:nvSpPr>
        <p:spPr>
          <a:xfrm>
            <a:off x="1219200" y="680317"/>
            <a:ext cx="1522515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1" dirty="0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Redundant Strategy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9C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782" y="-2778"/>
            <a:ext cx="182880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444432">
            <a:off x="15066249" y="-2715514"/>
            <a:ext cx="5007968" cy="4139864"/>
          </a:xfrm>
          <a:custGeom>
            <a:avLst/>
            <a:gdLst/>
            <a:ahLst/>
            <a:cxnLst/>
            <a:rect l="l" t="t" r="r" b="b"/>
            <a:pathLst>
              <a:path w="5007968" h="4139864">
                <a:moveTo>
                  <a:pt x="0" y="0"/>
                </a:moveTo>
                <a:lnTo>
                  <a:pt x="5007968" y="0"/>
                </a:lnTo>
                <a:lnTo>
                  <a:pt x="5007968" y="4139864"/>
                </a:lnTo>
                <a:lnTo>
                  <a:pt x="0" y="4139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51208" y="2093989"/>
            <a:ext cx="8211792" cy="6173711"/>
          </a:xfrm>
          <a:custGeom>
            <a:avLst/>
            <a:gdLst/>
            <a:ahLst/>
            <a:cxnLst/>
            <a:rect l="l" t="t" r="r" b="b"/>
            <a:pathLst>
              <a:path w="7183073" h="4444527">
                <a:moveTo>
                  <a:pt x="0" y="0"/>
                </a:moveTo>
                <a:lnTo>
                  <a:pt x="7183073" y="0"/>
                </a:lnTo>
                <a:lnTo>
                  <a:pt x="7183073" y="4444527"/>
                </a:lnTo>
                <a:lnTo>
                  <a:pt x="0" y="44445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1170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1404919" y="615712"/>
            <a:ext cx="14932603" cy="859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5599" b="1" dirty="0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All platforms showed higher fresh content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3482" y="8648874"/>
            <a:ext cx="778064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69874" lvl="1" algn="l">
              <a:lnSpc>
                <a:spcPts val="2999"/>
              </a:lnSpc>
            </a:pPr>
            <a:r>
              <a:rPr lang="en-US" sz="2499" dirty="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During 2015-2024, all platforms showed higher content releases. 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34600" y="8864963"/>
            <a:ext cx="8339188" cy="7957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20"/>
              </a:lnSpc>
              <a:spcBef>
                <a:spcPct val="0"/>
              </a:spcBef>
            </a:pPr>
            <a:r>
              <a:rPr lang="en-US" sz="2600" dirty="0">
                <a:solidFill>
                  <a:srgbClr val="FEFCF6"/>
                </a:solidFill>
                <a:latin typeface="Heebo" pitchFamily="2" charset="-79"/>
                <a:ea typeface="Heebo Bold"/>
                <a:cs typeface="Heebo" pitchFamily="2" charset="-79"/>
                <a:sym typeface="Heebo Bold"/>
              </a:rPr>
              <a:t>At this period, top-rated genres are “documentary” and “comedy, drama”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CCCAE-9C7B-890E-A450-6E64ED8F4F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4461"/>
          <a:stretch/>
        </p:blipFill>
        <p:spPr>
          <a:xfrm>
            <a:off x="10325627" y="1893647"/>
            <a:ext cx="7605668" cy="6608346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DD754D3B-1D81-E86A-D6A8-0D614062A2E9}"/>
              </a:ext>
            </a:extLst>
          </p:cNvPr>
          <p:cNvSpPr/>
          <p:nvPr/>
        </p:nvSpPr>
        <p:spPr>
          <a:xfrm>
            <a:off x="8941427" y="4787421"/>
            <a:ext cx="1219200" cy="1066800"/>
          </a:xfrm>
          <a:prstGeom prst="rightArrow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630392" flipH="1">
            <a:off x="15653152" y="7568550"/>
            <a:ext cx="3353896" cy="3090152"/>
          </a:xfrm>
          <a:custGeom>
            <a:avLst/>
            <a:gdLst/>
            <a:ahLst/>
            <a:cxnLst/>
            <a:rect l="l" t="t" r="r" b="b"/>
            <a:pathLst>
              <a:path w="3353896" h="3090152">
                <a:moveTo>
                  <a:pt x="3353896" y="0"/>
                </a:moveTo>
                <a:lnTo>
                  <a:pt x="0" y="0"/>
                </a:lnTo>
                <a:lnTo>
                  <a:pt x="0" y="3090152"/>
                </a:lnTo>
                <a:lnTo>
                  <a:pt x="3353896" y="3090152"/>
                </a:lnTo>
                <a:lnTo>
                  <a:pt x="3353896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2444432">
            <a:off x="14658712" y="-1634908"/>
            <a:ext cx="5007968" cy="4139864"/>
          </a:xfrm>
          <a:custGeom>
            <a:avLst/>
            <a:gdLst/>
            <a:ahLst/>
            <a:cxnLst/>
            <a:rect l="l" t="t" r="r" b="b"/>
            <a:pathLst>
              <a:path w="5007968" h="4139864">
                <a:moveTo>
                  <a:pt x="0" y="0"/>
                </a:moveTo>
                <a:lnTo>
                  <a:pt x="5007968" y="0"/>
                </a:lnTo>
                <a:lnTo>
                  <a:pt x="5007968" y="4139864"/>
                </a:lnTo>
                <a:lnTo>
                  <a:pt x="0" y="41398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706500" y="700926"/>
            <a:ext cx="3146502" cy="3092852"/>
          </a:xfrm>
          <a:custGeom>
            <a:avLst/>
            <a:gdLst/>
            <a:ahLst/>
            <a:cxnLst/>
            <a:rect l="l" t="t" r="r" b="b"/>
            <a:pathLst>
              <a:path w="3146502" h="3092852">
                <a:moveTo>
                  <a:pt x="0" y="0"/>
                </a:moveTo>
                <a:lnTo>
                  <a:pt x="3146502" y="0"/>
                </a:lnTo>
                <a:lnTo>
                  <a:pt x="3146502" y="3092852"/>
                </a:lnTo>
                <a:lnTo>
                  <a:pt x="0" y="3092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670554" y="3793778"/>
            <a:ext cx="2434009" cy="2434009"/>
          </a:xfrm>
          <a:custGeom>
            <a:avLst/>
            <a:gdLst/>
            <a:ahLst/>
            <a:cxnLst/>
            <a:rect l="l" t="t" r="r" b="b"/>
            <a:pathLst>
              <a:path w="2434009" h="2434009">
                <a:moveTo>
                  <a:pt x="0" y="0"/>
                </a:moveTo>
                <a:lnTo>
                  <a:pt x="2434009" y="0"/>
                </a:lnTo>
                <a:lnTo>
                  <a:pt x="2434009" y="2434009"/>
                </a:lnTo>
                <a:lnTo>
                  <a:pt x="0" y="24340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536536" y="3793778"/>
            <a:ext cx="2434009" cy="2434009"/>
          </a:xfrm>
          <a:custGeom>
            <a:avLst/>
            <a:gdLst/>
            <a:ahLst/>
            <a:cxnLst/>
            <a:rect l="l" t="t" r="r" b="b"/>
            <a:pathLst>
              <a:path w="2434009" h="2434009">
                <a:moveTo>
                  <a:pt x="0" y="0"/>
                </a:moveTo>
                <a:lnTo>
                  <a:pt x="2434009" y="0"/>
                </a:lnTo>
                <a:lnTo>
                  <a:pt x="2434009" y="2434009"/>
                </a:lnTo>
                <a:lnTo>
                  <a:pt x="0" y="24340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793058" y="3793939"/>
            <a:ext cx="2433848" cy="2433848"/>
          </a:xfrm>
          <a:custGeom>
            <a:avLst/>
            <a:gdLst/>
            <a:ahLst/>
            <a:cxnLst/>
            <a:rect l="l" t="t" r="r" b="b"/>
            <a:pathLst>
              <a:path w="2433848" h="2433848">
                <a:moveTo>
                  <a:pt x="0" y="0"/>
                </a:moveTo>
                <a:lnTo>
                  <a:pt x="2433848" y="0"/>
                </a:lnTo>
                <a:lnTo>
                  <a:pt x="2433848" y="2433848"/>
                </a:lnTo>
                <a:lnTo>
                  <a:pt x="0" y="24338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531428" y="1019175"/>
            <a:ext cx="1522515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Recommendation - </a:t>
            </a:r>
            <a:r>
              <a:rPr lang="en-US" sz="5599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related to release years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68750" y="6821942"/>
            <a:ext cx="3482463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9"/>
              </a:lnSpc>
            </a:pPr>
            <a:r>
              <a:rPr lang="en-US" sz="3099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Continuously Update Content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37088" y="6821942"/>
            <a:ext cx="3432904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Focus on the Highest-Rated Genres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55867" y="6821942"/>
            <a:ext cx="4263383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Keep an Eye on Trends and Oscar-Awarded Movies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444432">
            <a:off x="14658712" y="-1634908"/>
            <a:ext cx="5007968" cy="4139864"/>
          </a:xfrm>
          <a:custGeom>
            <a:avLst/>
            <a:gdLst/>
            <a:ahLst/>
            <a:cxnLst/>
            <a:rect l="l" t="t" r="r" b="b"/>
            <a:pathLst>
              <a:path w="5007968" h="4139864">
                <a:moveTo>
                  <a:pt x="0" y="0"/>
                </a:moveTo>
                <a:lnTo>
                  <a:pt x="5007968" y="0"/>
                </a:lnTo>
                <a:lnTo>
                  <a:pt x="5007968" y="4139864"/>
                </a:lnTo>
                <a:lnTo>
                  <a:pt x="0" y="4139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2149136" y="2350624"/>
          <a:ext cx="13989728" cy="6907676"/>
        </p:xfrm>
        <a:graphic>
          <a:graphicData uri="http://schemas.openxmlformats.org/drawingml/2006/table">
            <a:tbl>
              <a:tblPr/>
              <a:tblGrid>
                <a:gridCol w="3497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7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7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7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5246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FFFFFF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Countries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2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FFFFFF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Top Rated Platform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2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FFFFFF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Top Rated Genre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2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FFFFFF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Top Rated Release Years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25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592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Top 5 Countries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2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HBO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Documentary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All years similar rating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6919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Middle 5 Countries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2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Apple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Documentary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All release years have similar rating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6919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Bottom 5 Countries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2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Apple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Documentary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Recent content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531428" y="791524"/>
            <a:ext cx="1522515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Countries Preferred Content 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444432">
            <a:off x="15333505" y="-1269954"/>
            <a:ext cx="5007968" cy="4139864"/>
          </a:xfrm>
          <a:custGeom>
            <a:avLst/>
            <a:gdLst/>
            <a:ahLst/>
            <a:cxnLst/>
            <a:rect l="l" t="t" r="r" b="b"/>
            <a:pathLst>
              <a:path w="5007968" h="4139864">
                <a:moveTo>
                  <a:pt x="0" y="0"/>
                </a:moveTo>
                <a:lnTo>
                  <a:pt x="5007968" y="0"/>
                </a:lnTo>
                <a:lnTo>
                  <a:pt x="5007968" y="4139864"/>
                </a:lnTo>
                <a:lnTo>
                  <a:pt x="0" y="4139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45797" y="790453"/>
            <a:ext cx="15225150" cy="170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The Middle 5 Countries Have NO Data on HOB Max and Hulu Platforms!!! </a:t>
            </a:r>
          </a:p>
        </p:txBody>
      </p:sp>
      <p:sp>
        <p:nvSpPr>
          <p:cNvPr id="6" name="Freeform 6"/>
          <p:cNvSpPr/>
          <p:nvPr/>
        </p:nvSpPr>
        <p:spPr>
          <a:xfrm>
            <a:off x="12907811" y="3209720"/>
            <a:ext cx="3363136" cy="2240689"/>
          </a:xfrm>
          <a:custGeom>
            <a:avLst/>
            <a:gdLst/>
            <a:ahLst/>
            <a:cxnLst/>
            <a:rect l="l" t="t" r="r" b="b"/>
            <a:pathLst>
              <a:path w="3363136" h="2240689">
                <a:moveTo>
                  <a:pt x="0" y="0"/>
                </a:moveTo>
                <a:lnTo>
                  <a:pt x="3363136" y="0"/>
                </a:lnTo>
                <a:lnTo>
                  <a:pt x="3363136" y="2240689"/>
                </a:lnTo>
                <a:lnTo>
                  <a:pt x="0" y="22406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4502950" y="6566987"/>
            <a:ext cx="3505049" cy="2336700"/>
          </a:xfrm>
          <a:custGeom>
            <a:avLst/>
            <a:gdLst/>
            <a:ahLst/>
            <a:cxnLst/>
            <a:rect l="l" t="t" r="r" b="b"/>
            <a:pathLst>
              <a:path w="3505049" h="2336700">
                <a:moveTo>
                  <a:pt x="0" y="0"/>
                </a:moveTo>
                <a:lnTo>
                  <a:pt x="3505049" y="0"/>
                </a:lnTo>
                <a:lnTo>
                  <a:pt x="3505049" y="2336700"/>
                </a:lnTo>
                <a:lnTo>
                  <a:pt x="0" y="2336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329191" y="3209720"/>
            <a:ext cx="3503729" cy="2335819"/>
          </a:xfrm>
          <a:custGeom>
            <a:avLst/>
            <a:gdLst/>
            <a:ahLst/>
            <a:cxnLst/>
            <a:rect l="l" t="t" r="r" b="b"/>
            <a:pathLst>
              <a:path w="3503729" h="2335819">
                <a:moveTo>
                  <a:pt x="0" y="0"/>
                </a:moveTo>
                <a:lnTo>
                  <a:pt x="3503729" y="0"/>
                </a:lnTo>
                <a:lnTo>
                  <a:pt x="3503729" y="2335819"/>
                </a:lnTo>
                <a:lnTo>
                  <a:pt x="0" y="23358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947362" y="9094913"/>
            <a:ext cx="2439454" cy="4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683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Bahrain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01185" y="9242570"/>
            <a:ext cx="2439454" cy="4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683" b="1" dirty="0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Thailand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369652" y="5804944"/>
            <a:ext cx="2439454" cy="4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683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Poland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61329" y="5781382"/>
            <a:ext cx="2439454" cy="4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683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Gibraltar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52893" y="5804944"/>
            <a:ext cx="2439454" cy="4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683" b="1" dirty="0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New Zealand</a:t>
            </a:r>
          </a:p>
        </p:txBody>
      </p:sp>
      <p:pic>
        <p:nvPicPr>
          <p:cNvPr id="3074" name="Picture 2" descr="Flag of Bahrain - Wikipedia">
            <a:extLst>
              <a:ext uri="{FF2B5EF4-FFF2-40B4-BE49-F238E27FC236}">
                <a16:creationId xmlns:a16="http://schemas.microsoft.com/office/drawing/2014/main" id="{84BBF3AF-0481-DA6C-F13C-2A24C6D42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0783" y="6498040"/>
            <a:ext cx="3505049" cy="237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Flag of New Zealand - Wikipedia">
            <a:extLst>
              <a:ext uri="{FF2B5EF4-FFF2-40B4-BE49-F238E27FC236}">
                <a16:creationId xmlns:a16="http://schemas.microsoft.com/office/drawing/2014/main" id="{3E691CAF-4F82-4A55-D8C5-2B4615EF7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877" y="3176742"/>
            <a:ext cx="3577487" cy="238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444432">
            <a:off x="14658712" y="-1634908"/>
            <a:ext cx="5007968" cy="4139864"/>
          </a:xfrm>
          <a:custGeom>
            <a:avLst/>
            <a:gdLst/>
            <a:ahLst/>
            <a:cxnLst/>
            <a:rect l="l" t="t" r="r" b="b"/>
            <a:pathLst>
              <a:path w="5007968" h="4139864">
                <a:moveTo>
                  <a:pt x="0" y="0"/>
                </a:moveTo>
                <a:lnTo>
                  <a:pt x="5007968" y="0"/>
                </a:lnTo>
                <a:lnTo>
                  <a:pt x="5007968" y="4139864"/>
                </a:lnTo>
                <a:lnTo>
                  <a:pt x="0" y="4139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319869" y="1953295"/>
          <a:ext cx="12082524" cy="7305003"/>
        </p:xfrm>
        <a:graphic>
          <a:graphicData uri="http://schemas.openxmlformats.org/drawingml/2006/table">
            <a:tbl>
              <a:tblPr/>
              <a:tblGrid>
                <a:gridCol w="2013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3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3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3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3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37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36072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FFFFFF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Factors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2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FFFFFF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Amazon Prime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2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FFFFFF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Apple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2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FFFFFF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Netflix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2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FFFFFF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Hulu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2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FFFFFF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HBO -Max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25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0715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FFFFFF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VPN  Requirement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2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No  - Available Globally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No - Available in most countries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No - Global access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BF0000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Yes - Only for the U.S. 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BF0000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Yes - Limited to selected countries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6072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FFFFFF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Ads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2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No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No (on premium)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BF0000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No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6072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FFFFFF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Subscriptions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2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~200 million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BF0000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~25 million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~260 million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BF0000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~50 million (mostly US)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~ 95 million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6072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FFFFFF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2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~$ 12.7B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DE1018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~$ 1.4B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~$ 37B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DE1018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~$ 11.2B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~$ 10B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748555" y="595313"/>
            <a:ext cx="1522515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About Platforms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444432">
            <a:off x="14658712" y="-1634908"/>
            <a:ext cx="5007968" cy="4139864"/>
          </a:xfrm>
          <a:custGeom>
            <a:avLst/>
            <a:gdLst/>
            <a:ahLst/>
            <a:cxnLst/>
            <a:rect l="l" t="t" r="r" b="b"/>
            <a:pathLst>
              <a:path w="5007968" h="4139864">
                <a:moveTo>
                  <a:pt x="0" y="0"/>
                </a:moveTo>
                <a:lnTo>
                  <a:pt x="5007968" y="0"/>
                </a:lnTo>
                <a:lnTo>
                  <a:pt x="5007968" y="4139864"/>
                </a:lnTo>
                <a:lnTo>
                  <a:pt x="0" y="4139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748555" y="595313"/>
            <a:ext cx="1522515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 Recommendation for Hulu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37756" y="2772233"/>
            <a:ext cx="5395683" cy="2193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ctr">
              <a:lnSpc>
                <a:spcPts val="4416"/>
              </a:lnSpc>
              <a:buFont typeface="Arial"/>
              <a:buChar char="•"/>
            </a:pPr>
            <a:r>
              <a:rPr lang="en-US" sz="3200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Expand global availability to reach wider audiences without requiring the use of VPNs.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07140" y="2772233"/>
            <a:ext cx="6037690" cy="1641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ctr">
              <a:lnSpc>
                <a:spcPts val="4416"/>
              </a:lnSpc>
              <a:buFont typeface="Arial"/>
              <a:buChar char="•"/>
            </a:pPr>
            <a:r>
              <a:rPr lang="en-US" sz="3200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Remove advertisements from the platform to enhance user experience 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12066" y="4918406"/>
            <a:ext cx="4692408" cy="144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4"/>
              </a:lnSpc>
              <a:spcBef>
                <a:spcPct val="0"/>
              </a:spcBef>
            </a:pPr>
            <a:r>
              <a:rPr lang="en-US" sz="2800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By using AWS services or extending your licensing rights as well.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90923" y="7118557"/>
            <a:ext cx="13740414" cy="1958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8"/>
              </a:lnSpc>
              <a:spcBef>
                <a:spcPct val="0"/>
              </a:spcBef>
            </a:pPr>
            <a:r>
              <a:rPr lang="en-US" sz="3839" b="1">
                <a:solidFill>
                  <a:srgbClr val="BDB69D"/>
                </a:solidFill>
                <a:latin typeface="Heebo Bold"/>
                <a:ea typeface="Heebo Bold"/>
                <a:cs typeface="Heebo Bold"/>
                <a:sym typeface="Heebo Bold"/>
              </a:rPr>
              <a:t>If Hulu adopts this strategy, it could surpass other platforms in terms of profit, especially considering its large subscriber base.</a:t>
            </a:r>
          </a:p>
        </p:txBody>
      </p:sp>
      <p:sp>
        <p:nvSpPr>
          <p:cNvPr id="9" name="Freeform 9"/>
          <p:cNvSpPr/>
          <p:nvPr/>
        </p:nvSpPr>
        <p:spPr>
          <a:xfrm rot="-7767644" flipV="1">
            <a:off x="7235669" y="3733638"/>
            <a:ext cx="1725701" cy="561346"/>
          </a:xfrm>
          <a:custGeom>
            <a:avLst/>
            <a:gdLst/>
            <a:ahLst/>
            <a:cxnLst/>
            <a:rect l="l" t="t" r="r" b="b"/>
            <a:pathLst>
              <a:path w="1725701" h="561346">
                <a:moveTo>
                  <a:pt x="0" y="561346"/>
                </a:moveTo>
                <a:lnTo>
                  <a:pt x="1725702" y="561346"/>
                </a:lnTo>
                <a:lnTo>
                  <a:pt x="1725702" y="0"/>
                </a:lnTo>
                <a:lnTo>
                  <a:pt x="0" y="0"/>
                </a:lnTo>
                <a:lnTo>
                  <a:pt x="0" y="56134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86400" y="1363928"/>
            <a:ext cx="7315200" cy="1783080"/>
          </a:xfrm>
          <a:custGeom>
            <a:avLst/>
            <a:gdLst/>
            <a:ahLst/>
            <a:cxnLst/>
            <a:rect l="l" t="t" r="r" b="b"/>
            <a:pathLst>
              <a:path w="7315200" h="1783080">
                <a:moveTo>
                  <a:pt x="0" y="0"/>
                </a:moveTo>
                <a:lnTo>
                  <a:pt x="7315200" y="0"/>
                </a:lnTo>
                <a:lnTo>
                  <a:pt x="7315200" y="1783080"/>
                </a:lnTo>
                <a:lnTo>
                  <a:pt x="0" y="178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3748030">
            <a:off x="3930496" y="3439166"/>
            <a:ext cx="2501962" cy="813853"/>
          </a:xfrm>
          <a:custGeom>
            <a:avLst/>
            <a:gdLst/>
            <a:ahLst/>
            <a:cxnLst/>
            <a:rect l="l" t="t" r="r" b="b"/>
            <a:pathLst>
              <a:path w="2501962" h="813853">
                <a:moveTo>
                  <a:pt x="0" y="0"/>
                </a:moveTo>
                <a:lnTo>
                  <a:pt x="2501962" y="0"/>
                </a:lnTo>
                <a:lnTo>
                  <a:pt x="2501962" y="813853"/>
                </a:lnTo>
                <a:lnTo>
                  <a:pt x="0" y="8138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3557966">
            <a:off x="11553474" y="3265478"/>
            <a:ext cx="2913022" cy="828366"/>
          </a:xfrm>
          <a:custGeom>
            <a:avLst/>
            <a:gdLst/>
            <a:ahLst/>
            <a:cxnLst/>
            <a:rect l="l" t="t" r="r" b="b"/>
            <a:pathLst>
              <a:path w="2913022" h="828366">
                <a:moveTo>
                  <a:pt x="0" y="0"/>
                </a:moveTo>
                <a:lnTo>
                  <a:pt x="2913022" y="0"/>
                </a:lnTo>
                <a:lnTo>
                  <a:pt x="2913022" y="828366"/>
                </a:lnTo>
                <a:lnTo>
                  <a:pt x="0" y="8283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768515" y="1028701"/>
            <a:ext cx="1473847" cy="4114800"/>
          </a:xfrm>
          <a:custGeom>
            <a:avLst/>
            <a:gdLst/>
            <a:ahLst/>
            <a:cxnLst/>
            <a:rect l="l" t="t" r="r" b="b"/>
            <a:pathLst>
              <a:path w="1473847" h="4114800">
                <a:moveTo>
                  <a:pt x="0" y="0"/>
                </a:moveTo>
                <a:lnTo>
                  <a:pt x="1473847" y="0"/>
                </a:lnTo>
                <a:lnTo>
                  <a:pt x="14738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5400000">
            <a:off x="7905416" y="3793623"/>
            <a:ext cx="2219987" cy="479767"/>
          </a:xfrm>
          <a:custGeom>
            <a:avLst/>
            <a:gdLst/>
            <a:ahLst/>
            <a:cxnLst/>
            <a:rect l="l" t="t" r="r" b="b"/>
            <a:pathLst>
              <a:path w="2219987" h="479767">
                <a:moveTo>
                  <a:pt x="0" y="0"/>
                </a:moveTo>
                <a:lnTo>
                  <a:pt x="2219987" y="0"/>
                </a:lnTo>
                <a:lnTo>
                  <a:pt x="2219987" y="479767"/>
                </a:lnTo>
                <a:lnTo>
                  <a:pt x="0" y="4797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644467" y="1560143"/>
            <a:ext cx="4999060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900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Overall</a:t>
            </a:r>
          </a:p>
          <a:p>
            <a:pPr algn="ctr">
              <a:lnSpc>
                <a:spcPts val="4680"/>
              </a:lnSpc>
            </a:pPr>
            <a:r>
              <a:rPr lang="en-US" sz="3900" b="1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Recommendations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66993" y="5357372"/>
            <a:ext cx="3677474" cy="3263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0"/>
              </a:lnSpc>
            </a:pPr>
            <a:r>
              <a:rPr lang="en-US" sz="3058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Bring in famous actors or directors to promote both their movies and a related TV show during interviews or live events.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39965" y="5357372"/>
            <a:ext cx="3579137" cy="3263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0"/>
              </a:lnSpc>
            </a:pPr>
            <a:r>
              <a:rPr lang="en-US" sz="3058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Create bundled plans featuring top movies and select TV episodes, giving users variety without oversaturating their viewing options.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05266" y="5590459"/>
            <a:ext cx="3677474" cy="2797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0"/>
              </a:lnSpc>
            </a:pPr>
            <a:r>
              <a:rPr lang="en-US" sz="3058">
                <a:solidFill>
                  <a:srgbClr val="FEFCF6"/>
                </a:solidFill>
                <a:latin typeface="Heebo"/>
                <a:ea typeface="Heebo"/>
                <a:cs typeface="Heebo"/>
                <a:sym typeface="Heebo"/>
              </a:rPr>
              <a:t>Keep the movie list updated with seasonal picks like holiday specials, trending releases, or award-winning films.</a:t>
            </a:r>
          </a:p>
        </p:txBody>
      </p:sp>
      <p:sp>
        <p:nvSpPr>
          <p:cNvPr id="12" name="Freeform 12"/>
          <p:cNvSpPr/>
          <p:nvPr/>
        </p:nvSpPr>
        <p:spPr>
          <a:xfrm flipH="1">
            <a:off x="-1546619" y="1600582"/>
            <a:ext cx="5827206" cy="3092852"/>
          </a:xfrm>
          <a:custGeom>
            <a:avLst/>
            <a:gdLst/>
            <a:ahLst/>
            <a:cxnLst/>
            <a:rect l="l" t="t" r="r" b="b"/>
            <a:pathLst>
              <a:path w="5827206" h="3092852">
                <a:moveTo>
                  <a:pt x="5827206" y="0"/>
                </a:moveTo>
                <a:lnTo>
                  <a:pt x="0" y="0"/>
                </a:lnTo>
                <a:lnTo>
                  <a:pt x="0" y="3092852"/>
                </a:lnTo>
                <a:lnTo>
                  <a:pt x="5827206" y="3092852"/>
                </a:lnTo>
                <a:lnTo>
                  <a:pt x="5827206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5421501" y="-20112"/>
            <a:ext cx="4712804" cy="5887250"/>
          </a:xfrm>
          <a:custGeom>
            <a:avLst/>
            <a:gdLst/>
            <a:ahLst/>
            <a:cxnLst/>
            <a:rect l="l" t="t" r="r" b="b"/>
            <a:pathLst>
              <a:path w="4712804" h="5887250">
                <a:moveTo>
                  <a:pt x="0" y="0"/>
                </a:moveTo>
                <a:lnTo>
                  <a:pt x="4712804" y="0"/>
                </a:lnTo>
                <a:lnTo>
                  <a:pt x="4712804" y="5887250"/>
                </a:lnTo>
                <a:lnTo>
                  <a:pt x="0" y="5887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6204652" y="7711874"/>
            <a:ext cx="3146502" cy="3092852"/>
          </a:xfrm>
          <a:custGeom>
            <a:avLst/>
            <a:gdLst/>
            <a:ahLst/>
            <a:cxnLst/>
            <a:rect l="l" t="t" r="r" b="b"/>
            <a:pathLst>
              <a:path w="3146502" h="3092852">
                <a:moveTo>
                  <a:pt x="0" y="0"/>
                </a:moveTo>
                <a:lnTo>
                  <a:pt x="3146502" y="0"/>
                </a:lnTo>
                <a:lnTo>
                  <a:pt x="3146502" y="3092852"/>
                </a:lnTo>
                <a:lnTo>
                  <a:pt x="0" y="309285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541385">
            <a:off x="-1122879" y="5403105"/>
            <a:ext cx="3760400" cy="5700452"/>
          </a:xfrm>
          <a:custGeom>
            <a:avLst/>
            <a:gdLst/>
            <a:ahLst/>
            <a:cxnLst/>
            <a:rect l="l" t="t" r="r" b="b"/>
            <a:pathLst>
              <a:path w="3760400" h="5700452">
                <a:moveTo>
                  <a:pt x="0" y="0"/>
                </a:moveTo>
                <a:lnTo>
                  <a:pt x="3760400" y="0"/>
                </a:lnTo>
                <a:lnTo>
                  <a:pt x="3760400" y="5700452"/>
                </a:lnTo>
                <a:lnTo>
                  <a:pt x="0" y="570045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3" y="-230300"/>
            <a:ext cx="182880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032322" y="3119034"/>
            <a:ext cx="9677400" cy="1923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4000" b="1" dirty="0">
                <a:solidFill>
                  <a:srgbClr val="FEFCF6"/>
                </a:solidFill>
                <a:latin typeface="Heebo Bold"/>
                <a:ea typeface="Heebo Bold"/>
                <a:cs typeface="Heebo Bold"/>
                <a:sym typeface="Heebo Bold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48200" y="5164932"/>
            <a:ext cx="8713350" cy="675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sz="4000" dirty="0">
                <a:solidFill>
                  <a:srgbClr val="FEFCF6"/>
                </a:solidFill>
                <a:latin typeface="DM Sans"/>
                <a:ea typeface="DM Sans"/>
                <a:cs typeface="DM Sans"/>
                <a:sym typeface="DM Sans"/>
              </a:rPr>
              <a:t>Do you have any questions?</a:t>
            </a:r>
          </a:p>
        </p:txBody>
      </p:sp>
      <p:sp>
        <p:nvSpPr>
          <p:cNvPr id="8" name="Freeform 8"/>
          <p:cNvSpPr/>
          <p:nvPr/>
        </p:nvSpPr>
        <p:spPr>
          <a:xfrm>
            <a:off x="-3090372" y="-1070465"/>
            <a:ext cx="6654904" cy="3749848"/>
          </a:xfrm>
          <a:custGeom>
            <a:avLst/>
            <a:gdLst/>
            <a:ahLst/>
            <a:cxnLst/>
            <a:rect l="l" t="t" r="r" b="b"/>
            <a:pathLst>
              <a:path w="6654904" h="3749848">
                <a:moveTo>
                  <a:pt x="0" y="0"/>
                </a:moveTo>
                <a:lnTo>
                  <a:pt x="6654904" y="0"/>
                </a:lnTo>
                <a:lnTo>
                  <a:pt x="6654904" y="3749848"/>
                </a:lnTo>
                <a:lnTo>
                  <a:pt x="0" y="37498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10453817" flipH="1">
            <a:off x="13881353" y="6685346"/>
            <a:ext cx="6654908" cy="3749850"/>
          </a:xfrm>
          <a:custGeom>
            <a:avLst/>
            <a:gdLst/>
            <a:ahLst/>
            <a:cxnLst/>
            <a:rect l="l" t="t" r="r" b="b"/>
            <a:pathLst>
              <a:path w="6654908" h="3749850">
                <a:moveTo>
                  <a:pt x="6654908" y="0"/>
                </a:moveTo>
                <a:lnTo>
                  <a:pt x="0" y="0"/>
                </a:lnTo>
                <a:lnTo>
                  <a:pt x="0" y="3749850"/>
                </a:lnTo>
                <a:lnTo>
                  <a:pt x="6654908" y="3749850"/>
                </a:lnTo>
                <a:lnTo>
                  <a:pt x="6654908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flipH="1">
            <a:off x="12855768" y="-913850"/>
            <a:ext cx="6654904" cy="3749848"/>
          </a:xfrm>
          <a:custGeom>
            <a:avLst/>
            <a:gdLst/>
            <a:ahLst/>
            <a:cxnLst/>
            <a:rect l="l" t="t" r="r" b="b"/>
            <a:pathLst>
              <a:path w="6654904" h="3749848">
                <a:moveTo>
                  <a:pt x="6654904" y="0"/>
                </a:moveTo>
                <a:lnTo>
                  <a:pt x="0" y="0"/>
                </a:lnTo>
                <a:lnTo>
                  <a:pt x="0" y="3749848"/>
                </a:lnTo>
                <a:lnTo>
                  <a:pt x="6654904" y="3749848"/>
                </a:lnTo>
                <a:lnTo>
                  <a:pt x="665490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-3732" y="5117211"/>
            <a:ext cx="3618600" cy="6496550"/>
          </a:xfrm>
          <a:custGeom>
            <a:avLst/>
            <a:gdLst/>
            <a:ahLst/>
            <a:cxnLst/>
            <a:rect l="l" t="t" r="r" b="b"/>
            <a:pathLst>
              <a:path w="3618600" h="6496550">
                <a:moveTo>
                  <a:pt x="0" y="0"/>
                </a:moveTo>
                <a:lnTo>
                  <a:pt x="3618600" y="0"/>
                </a:lnTo>
                <a:lnTo>
                  <a:pt x="3618600" y="6496550"/>
                </a:lnTo>
                <a:lnTo>
                  <a:pt x="0" y="6496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flipH="1">
            <a:off x="13489430" y="6553973"/>
            <a:ext cx="5104166" cy="4400650"/>
          </a:xfrm>
          <a:custGeom>
            <a:avLst/>
            <a:gdLst/>
            <a:ahLst/>
            <a:cxnLst/>
            <a:rect l="l" t="t" r="r" b="b"/>
            <a:pathLst>
              <a:path w="5104166" h="4400650">
                <a:moveTo>
                  <a:pt x="5104166" y="0"/>
                </a:moveTo>
                <a:lnTo>
                  <a:pt x="0" y="0"/>
                </a:lnTo>
                <a:lnTo>
                  <a:pt x="0" y="4400650"/>
                </a:lnTo>
                <a:lnTo>
                  <a:pt x="5104166" y="4400650"/>
                </a:lnTo>
                <a:lnTo>
                  <a:pt x="5104166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5752786" y="-915664"/>
            <a:ext cx="3146502" cy="3092852"/>
          </a:xfrm>
          <a:custGeom>
            <a:avLst/>
            <a:gdLst/>
            <a:ahLst/>
            <a:cxnLst/>
            <a:rect l="l" t="t" r="r" b="b"/>
            <a:pathLst>
              <a:path w="3146502" h="3092852">
                <a:moveTo>
                  <a:pt x="0" y="0"/>
                </a:moveTo>
                <a:lnTo>
                  <a:pt x="3146502" y="0"/>
                </a:lnTo>
                <a:lnTo>
                  <a:pt x="3146502" y="3092852"/>
                </a:lnTo>
                <a:lnTo>
                  <a:pt x="0" y="30928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886</Words>
  <Application>Microsoft Office PowerPoint</Application>
  <PresentationFormat>Custom</PresentationFormat>
  <Paragraphs>186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DM Sans Bold</vt:lpstr>
      <vt:lpstr>DM Sans</vt:lpstr>
      <vt:lpstr>Heebo </vt:lpstr>
      <vt:lpstr>Heebo Bold</vt:lpstr>
      <vt:lpstr>Arial</vt:lpstr>
      <vt:lpstr>Heebo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Mid-Project</dc:title>
  <cp:lastModifiedBy>Seddiqa Shubbar</cp:lastModifiedBy>
  <cp:revision>2</cp:revision>
  <dcterms:created xsi:type="dcterms:W3CDTF">2006-08-16T00:00:00Z</dcterms:created>
  <dcterms:modified xsi:type="dcterms:W3CDTF">2025-04-20T06:20:34Z</dcterms:modified>
  <dc:identifier>DAGlAC89280</dc:identifier>
</cp:coreProperties>
</file>